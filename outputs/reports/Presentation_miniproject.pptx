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onsolas" panose="020B0609020204030204" pitchFamily="49" charset="0"/>
      <p:regular r:id="rId12"/>
      <p:bold r:id="rId13"/>
      <p:italic r:id="rId14"/>
      <p:boldItalic r:id="rId15"/>
    </p:embeddedFont>
    <p:embeddedFont>
      <p:font typeface="Host Grotesk" panose="020B0604020202020204" charset="0"/>
      <p:regular r:id="rId16"/>
    </p:embeddedFont>
    <p:embeddedFont>
      <p:font typeface="Host Grotesk Bold" panose="020B0604020202020204" charset="0"/>
      <p:regular r:id="rId17"/>
    </p:embeddedFont>
    <p:embeddedFont>
      <p:font typeface="Red Hat Mono" panose="020B0604020202020204" charset="0"/>
      <p:regular r:id="rId18"/>
    </p:embeddedFont>
    <p:embeddedFont>
      <p:font typeface="Red Hat Mono Bold" panose="020B0604020202020204" charset="0"/>
      <p:regular r:id="rId19"/>
    </p:embeddedFont>
    <p:embeddedFont>
      <p:font typeface="Red Hat Mono SemiBold" panose="020B0604020202020204" charset="0"/>
      <p:regular r:id="rId20"/>
    </p:embeddedFont>
    <p:embeddedFont>
      <p:font typeface="Sofia Sans Extra Condensed Black"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31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0832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 am presenting Mini-Project 1: evaluating PCA versus Truncated SVD on one million GiftLane retail transactions. We will cover how we clean the data, compress a 98% sparse matrix, test recommendation accuracy against a best-seller baseline, and extract marketing segments.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GiftLane's wholesale business thrives on repeat orders. E-Commerce wants personalized recommendations on product pages, while marketing wants clear segments. The challenge is handling millions of sparse interactions efficiently and reproducibly overnight.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UCI Online Retail II: 1,067,371 invoice lines, about Dec 2009 to Dec 2011. After cleaning, 776,577 rows remained. The model was built on the training period only, with the later test period held out to reduce leakage at the October 9, 2011, 12:50 cutoff.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98% of the customer-product matrix is empty. Sparse CSR structures handle raw storage at 3.3 MB, but factorizing down to 50 latent dimensions compresses customer and product vectors to just 1.83 MB for instant real-time dot-product scoring.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requires centering, which destroys sparsity and slows processing down to 0.84 seconds. Truncated SVD operates natively on sparse matrices, fitting in just 0.16 seconds with near-identical recommendation power.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1,913 eligible test customers, Truncated SVD reached 20.02% Hit Rate@10, PCA 20.13%, and the best-seller baseline 19.29%. The gap is small. SVD fit in 0.163 s and PCA in 0.838 s. Memory and reconstruction-error measurements have caveats, and results from this run are not proof of production readiness.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clustering on the 50 SVD components reveals four actionable segments. While two general retail mix groups comprise most accounts, we isolated two focused niches: homeware decorators and utility packaging buyers.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clean, reproducible proof of concept, but these results do not prove immediate production readiness. Next, we must validate alternative value encodings, address cold-start items, and test rolling time windows.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Truncated SVD is our primary recommendation. It handles sparse data natively, fits in 0.16 seconds, and matches PCA accuracy. Our next milestone is to validate model stability and review merchandising utility before scheduling production.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D3BE3"/>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11182" y="735727"/>
            <a:ext cx="6299042" cy="1813520"/>
          </a:xfrm>
          <a:prstGeom prst="rect">
            <a:avLst/>
          </a:prstGeom>
          <a:noFill/>
          <a:ln/>
        </p:spPr>
        <p:txBody>
          <a:bodyPr wrap="square" lIns="0" tIns="0" rIns="0" bIns="0" rtlCol="0" anchor="t">
            <a:normAutofit/>
          </a:bodyPr>
          <a:lstStyle/>
          <a:p>
            <a:pPr marL="0" indent="0" algn="l">
              <a:lnSpc>
                <a:spcPct val="71000"/>
              </a:lnSpc>
              <a:buNone/>
            </a:pPr>
            <a:r>
              <a:rPr lang="en-US" sz="8400" kern="100" spc="-42" dirty="0">
                <a:solidFill>
                  <a:srgbClr val="FFFFFF"/>
                </a:solidFill>
                <a:latin typeface="Sofia Sans Extra Condensed Black" pitchFamily="34" charset="0"/>
                <a:ea typeface="Sofia Sans Extra Condensed Black" pitchFamily="34" charset="-122"/>
                <a:cs typeface="Sofia Sans Extra Condensed Black" pitchFamily="34" charset="-120"/>
              </a:rPr>
              <a:t>CUSTOMERS</a:t>
            </a:r>
            <a:endParaRPr lang="en-US" sz="8400" dirty="0"/>
          </a:p>
          <a:p>
            <a:pPr marL="0" indent="0" algn="l">
              <a:lnSpc>
                <a:spcPct val="71000"/>
              </a:lnSpc>
              <a:buNone/>
            </a:pPr>
            <a:r>
              <a:rPr lang="en-US" sz="8400" kern="100" spc="-42" dirty="0">
                <a:solidFill>
                  <a:srgbClr val="FFFFFF"/>
                </a:solidFill>
                <a:latin typeface="Sofia Sans Extra Condensed Black" pitchFamily="34" charset="0"/>
                <a:ea typeface="Sofia Sans Extra Condensed Black" pitchFamily="34" charset="-122"/>
                <a:cs typeface="Sofia Sans Extra Condensed Black" pitchFamily="34" charset="-120"/>
              </a:rPr>
              <a:t>LIKE YOU</a:t>
            </a:r>
            <a:endParaRPr lang="en-US" sz="8400" dirty="0"/>
          </a:p>
        </p:txBody>
      </p:sp>
      <p:sp>
        <p:nvSpPr>
          <p:cNvPr id="3" name="Text 1"/>
          <p:cNvSpPr/>
          <p:nvPr/>
        </p:nvSpPr>
        <p:spPr>
          <a:xfrm>
            <a:off x="711182" y="2702055"/>
            <a:ext cx="6299042" cy="700881"/>
          </a:xfrm>
          <a:prstGeom prst="rect">
            <a:avLst/>
          </a:prstGeom>
          <a:noFill/>
          <a:ln/>
        </p:spPr>
        <p:txBody>
          <a:bodyPr wrap="square" lIns="0" tIns="0" rIns="0" bIns="0" rtlCol="0" anchor="t">
            <a:normAutofit/>
          </a:bodyPr>
          <a:lstStyle/>
          <a:p>
            <a:pPr marL="0" indent="0" algn="l">
              <a:lnSpc>
                <a:spcPct val="96000"/>
              </a:lnSpc>
              <a:buNone/>
            </a:pPr>
            <a:r>
              <a:rPr lang="en-US" sz="2400" b="1" dirty="0">
                <a:solidFill>
                  <a:srgbClr val="FFE83D"/>
                </a:solidFill>
                <a:latin typeface="Host Grotesk Bold" pitchFamily="34" charset="0"/>
                <a:ea typeface="Host Grotesk Bold" pitchFamily="34" charset="-122"/>
                <a:cs typeface="Host Grotesk Bold" pitchFamily="34" charset="-120"/>
              </a:rPr>
              <a:t>PCA vs. Truncated SVD for Retail Recommendations</a:t>
            </a:r>
            <a:endParaRPr lang="en-US" sz="2400" dirty="0"/>
          </a:p>
        </p:txBody>
      </p:sp>
      <p:sp>
        <p:nvSpPr>
          <p:cNvPr id="4" name="Text 2"/>
          <p:cNvSpPr/>
          <p:nvPr/>
        </p:nvSpPr>
        <p:spPr>
          <a:xfrm>
            <a:off x="711182" y="3578423"/>
            <a:ext cx="6299042"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FFFFFF"/>
                </a:solidFill>
                <a:latin typeface="Host Grotesk" pitchFamily="34" charset="0"/>
                <a:ea typeface="Host Grotesk" pitchFamily="34" charset="-122"/>
                <a:cs typeface="Host Grotesk" pitchFamily="34" charset="-120"/>
              </a:rPr>
              <a:t>A dimensionality-reduction and customer-segmentation project for GiftLane.</a:t>
            </a:r>
            <a:endParaRPr lang="en-US" sz="2000" dirty="0"/>
          </a:p>
        </p:txBody>
      </p:sp>
      <p:sp>
        <p:nvSpPr>
          <p:cNvPr id="5" name="Text 3"/>
          <p:cNvSpPr/>
          <p:nvPr/>
        </p:nvSpPr>
        <p:spPr>
          <a:xfrm>
            <a:off x="711182" y="4442023"/>
            <a:ext cx="6299042"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FFFFFF"/>
                </a:solidFill>
                <a:latin typeface="Red Hat Mono" pitchFamily="34" charset="0"/>
                <a:ea typeface="Red Hat Mono" pitchFamily="34" charset="-122"/>
                <a:cs typeface="Red Hat Mono" pitchFamily="34" charset="-120"/>
              </a:rPr>
              <a:t>Mini-Project #01 · Prepared by Kamya Kanara · October 14, 2026</a:t>
            </a:r>
            <a:endParaRPr lang="en-US" sz="2000" dirty="0"/>
          </a:p>
        </p:txBody>
      </p:sp>
      <p:sp>
        <p:nvSpPr>
          <p:cNvPr id="6" name="Text 4"/>
          <p:cNvSpPr/>
          <p:nvPr/>
        </p:nvSpPr>
        <p:spPr>
          <a:xfrm>
            <a:off x="711182" y="5324991"/>
            <a:ext cx="6299042" cy="891480"/>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C9D3F2"/>
                </a:solidFill>
                <a:latin typeface="Host Grotesk" pitchFamily="34" charset="0"/>
                <a:ea typeface="Host Grotesk" pitchFamily="34" charset="-122"/>
                <a:cs typeface="Host Grotesk" pitchFamily="34" charset="-120"/>
              </a:rPr>
              <a:t>Objective: build a reproducible pipeline to compress retail transactions, evaluate recommendations, and discover interpretable customer groups.</a:t>
            </a:r>
            <a:endParaRPr lang="en-US" sz="1800" dirty="0"/>
          </a:p>
        </p:txBody>
      </p:sp>
      <p:pic>
        <p:nvPicPr>
          <p:cNvPr id="7" name="Image 0" descr="preencoded.png"/>
          <p:cNvPicPr>
            <a:picLocks noChangeAspect="1"/>
          </p:cNvPicPr>
          <p:nvPr/>
        </p:nvPicPr>
        <p:blipFill>
          <a:blip r:embed="rId3"/>
          <a:stretch>
            <a:fillRect/>
          </a:stretch>
        </p:blipFill>
        <p:spPr>
          <a:xfrm>
            <a:off x="7416614" y="457200"/>
            <a:ext cx="4267093" cy="6400800"/>
          </a:xfrm>
          <a:prstGeom prst="rect">
            <a:avLst/>
          </a:prstGeom>
        </p:spPr>
      </p:pic>
      <p:sp>
        <p:nvSpPr>
          <p:cNvPr id="8" name="Rectangle 7">
            <a:extLst>
              <a:ext uri="{FF2B5EF4-FFF2-40B4-BE49-F238E27FC236}">
                <a16:creationId xmlns:a16="http://schemas.microsoft.com/office/drawing/2014/main" id="{729662C4-EDC5-4682-6B7D-D0B7F88E6F02}"/>
              </a:ext>
            </a:extLst>
          </p:cNvPr>
          <p:cNvSpPr/>
          <p:nvPr/>
        </p:nvSpPr>
        <p:spPr>
          <a:xfrm>
            <a:off x="11037381" y="6522098"/>
            <a:ext cx="1154619" cy="270588"/>
          </a:xfrm>
          <a:prstGeom prst="rect">
            <a:avLst/>
          </a:prstGeom>
          <a:solidFill>
            <a:srgbClr val="2D31D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Page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64956"/>
            <a:ext cx="11734506" cy="304800"/>
          </a:xfrm>
          <a:prstGeom prst="rect">
            <a:avLst/>
          </a:prstGeom>
          <a:noFill/>
          <a:ln/>
        </p:spPr>
        <p:txBody>
          <a:bodyPr wrap="none" lIns="0" tIns="0" rIns="0" bIns="0" rtlCol="0" anchor="t"/>
          <a:lstStyle/>
          <a:p>
            <a:pPr marL="0" indent="0" algn="l">
              <a:lnSpc>
                <a:spcPct val="100000"/>
              </a:lnSpc>
              <a:buNone/>
            </a:pPr>
            <a:r>
              <a:rPr lang="en-US" sz="2000" kern="100" spc="20" dirty="0">
                <a:solidFill>
                  <a:srgbClr val="0A1540"/>
                </a:solidFill>
                <a:latin typeface="Red Hat Mono SemiBold" pitchFamily="34" charset="0"/>
                <a:ea typeface="Red Hat Mono SemiBold" pitchFamily="34" charset="-122"/>
                <a:cs typeface="Red Hat Mono SemiBold" pitchFamily="34" charset="-120"/>
              </a:rPr>
              <a:t>THE BUSINESS CONTEXT</a:t>
            </a:r>
            <a:endParaRPr lang="en-US" sz="2000" dirty="0"/>
          </a:p>
        </p:txBody>
      </p:sp>
      <p:sp>
        <p:nvSpPr>
          <p:cNvPr id="3" name="Text 1"/>
          <p:cNvSpPr/>
          <p:nvPr/>
        </p:nvSpPr>
        <p:spPr>
          <a:xfrm>
            <a:off x="457189" y="895350"/>
            <a:ext cx="11277318" cy="965200"/>
          </a:xfrm>
          <a:prstGeom prst="rect">
            <a:avLst/>
          </a:prstGeom>
          <a:noFill/>
          <a:ln/>
        </p:spPr>
        <p:txBody>
          <a:bodyPr wrap="square" lIns="0" tIns="0" rIns="0" bIns="0" rtlCol="0" anchor="t">
            <a:normAutofit/>
          </a:bodyPr>
          <a:lstStyle/>
          <a:p>
            <a:pPr marL="0" indent="0" algn="l">
              <a:lnSpc>
                <a:spcPct val="79000"/>
              </a:lnSpc>
              <a:buNone/>
            </a:pPr>
            <a:r>
              <a:rPr lang="en-US" sz="4000" dirty="0">
                <a:solidFill>
                  <a:srgbClr val="0A1540"/>
                </a:solidFill>
                <a:latin typeface="Sofia Sans Extra Condensed Black" pitchFamily="34" charset="0"/>
                <a:ea typeface="Sofia Sans Extra Condensed Black" pitchFamily="34" charset="-122"/>
                <a:cs typeface="Sofia Sans Extra Condensed Black" pitchFamily="34" charset="-120"/>
              </a:rPr>
              <a:t>THE BUSINESS PROBLEM: SMARTER RECOMMENDATIONS, SMALLER DATA</a:t>
            </a:r>
            <a:endParaRPr lang="en-US" sz="4000" dirty="0"/>
          </a:p>
        </p:txBody>
      </p:sp>
      <p:sp>
        <p:nvSpPr>
          <p:cNvPr id="4" name="Text 2"/>
          <p:cNvSpPr/>
          <p:nvPr/>
        </p:nvSpPr>
        <p:spPr>
          <a:xfrm>
            <a:off x="457189" y="2311400"/>
            <a:ext cx="6852768" cy="2675731"/>
          </a:xfrm>
          <a:prstGeom prst="rect">
            <a:avLst/>
          </a:prstGeom>
          <a:noFill/>
          <a:ln/>
        </p:spPr>
        <p:txBody>
          <a:bodyPr wrap="square" lIns="0" tIns="0" rIns="0" bIns="0" rtlCol="0" anchor="t">
            <a:normAutofit/>
          </a:bodyPr>
          <a:lstStyle/>
          <a:p>
            <a:pPr marL="0" indent="0" algn="l">
              <a:lnSpc>
                <a:spcPct val="108000"/>
              </a:lnSpc>
              <a:spcAft>
                <a:spcPts val="1150"/>
              </a:spcAft>
              <a:buNone/>
            </a:pPr>
            <a:r>
              <a:rPr lang="en-US" sz="1800" b="1" dirty="0">
                <a:solidFill>
                  <a:srgbClr val="0A1540"/>
                </a:solidFill>
                <a:latin typeface="Host Grotesk Bold" pitchFamily="34" charset="0"/>
                <a:ea typeface="Host Grotesk Bold" pitchFamily="34" charset="-122"/>
                <a:cs typeface="Host Grotesk Bold" pitchFamily="34" charset="-120"/>
              </a:rPr>
              <a:t>GiftLane:</a:t>
            </a:r>
            <a:r>
              <a:rPr lang="en-US" sz="1800" dirty="0">
                <a:solidFill>
                  <a:srgbClr val="0A1540"/>
                </a:solidFill>
                <a:latin typeface="Host Grotesk" pitchFamily="34" charset="0"/>
                <a:ea typeface="Host Grotesk" pitchFamily="34" charset="-122"/>
                <a:cs typeface="Host Grotesk" pitchFamily="34" charset="-120"/>
              </a:rPr>
              <a:t> fictional UK online retailer of giftware, homeware, bags and paper goods; small shops and wholesalers reorder often.</a:t>
            </a:r>
            <a:endParaRPr lang="en-US" sz="1800" dirty="0"/>
          </a:p>
          <a:p>
            <a:pPr marL="0" indent="0" algn="l">
              <a:lnSpc>
                <a:spcPct val="108000"/>
              </a:lnSpc>
              <a:spcAft>
                <a:spcPts val="1150"/>
              </a:spcAft>
              <a:buNone/>
            </a:pPr>
            <a:r>
              <a:rPr lang="en-US" sz="1800" b="1" dirty="0">
                <a:solidFill>
                  <a:srgbClr val="0A1540"/>
                </a:solidFill>
                <a:latin typeface="Host Grotesk Bold" pitchFamily="34" charset="0"/>
                <a:ea typeface="Host Grotesk Bold" pitchFamily="34" charset="-122"/>
                <a:cs typeface="Host Grotesk Bold" pitchFamily="34" charset="-120"/>
              </a:rPr>
              <a:t>Sarah Okafor, Head of E-Commerce:</a:t>
            </a:r>
            <a:r>
              <a:rPr lang="en-US" sz="1800" dirty="0">
                <a:solidFill>
                  <a:srgbClr val="0A1540"/>
                </a:solidFill>
                <a:latin typeface="Host Grotesk" pitchFamily="34" charset="0"/>
                <a:ea typeface="Host Grotesk" pitchFamily="34" charset="-122"/>
                <a:cs typeface="Host Grotesk" pitchFamily="34" charset="-120"/>
              </a:rPr>
              <a:t> wants “Customers who bought this also bought…” on product pages as a recurring overnight job, evaluated against a top-10 best-seller baseline.</a:t>
            </a:r>
            <a:endParaRPr lang="en-US" sz="1800" dirty="0"/>
          </a:p>
          <a:p>
            <a:pPr marL="0" indent="0" algn="l">
              <a:lnSpc>
                <a:spcPct val="108000"/>
              </a:lnSpc>
              <a:buNone/>
            </a:pPr>
            <a:r>
              <a:rPr lang="en-US" sz="1800" b="1" dirty="0">
                <a:solidFill>
                  <a:srgbClr val="0A1540"/>
                </a:solidFill>
                <a:latin typeface="Host Grotesk Bold" pitchFamily="34" charset="0"/>
                <a:ea typeface="Host Grotesk Bold" pitchFamily="34" charset="-122"/>
                <a:cs typeface="Host Grotesk Bold" pitchFamily="34" charset="-120"/>
              </a:rPr>
              <a:t>Marketing:</a:t>
            </a:r>
            <a:r>
              <a:rPr lang="en-US" sz="1800" dirty="0">
                <a:solidFill>
                  <a:srgbClr val="0A1540"/>
                </a:solidFill>
                <a:latin typeface="Host Grotesk" pitchFamily="34" charset="0"/>
                <a:ea typeface="Host Grotesk" pitchFamily="34" charset="-122"/>
                <a:cs typeface="Host Grotesk" pitchFamily="34" charset="-120"/>
              </a:rPr>
              <a:t> wants a simple visual of customer groups. </a:t>
            </a:r>
            <a:r>
              <a:rPr lang="en-US" sz="1800" b="1" dirty="0">
                <a:solidFill>
                  <a:srgbClr val="0A1540"/>
                </a:solidFill>
                <a:latin typeface="Host Grotesk Bold" pitchFamily="34" charset="0"/>
                <a:ea typeface="Host Grotesk Bold" pitchFamily="34" charset="-122"/>
                <a:cs typeface="Host Grotesk Bold" pitchFamily="34" charset="-120"/>
              </a:rPr>
              <a:t>Constraints:</a:t>
            </a:r>
            <a:r>
              <a:rPr lang="en-US" sz="1800" dirty="0">
                <a:solidFill>
                  <a:srgbClr val="0A1540"/>
                </a:solidFill>
                <a:latin typeface="Host Grotesk" pitchFamily="34" charset="0"/>
                <a:ea typeface="Host Grotesk" pitchFamily="34" charset="-122"/>
                <a:cs typeface="Host Grotesk" pitchFamily="34" charset="-120"/>
              </a:rPr>
              <a:t> no customer IDs shown, reproducible, documented cleaning, evaluation on held-out purchases.</a:t>
            </a:r>
            <a:endParaRPr lang="en-US" sz="1800" dirty="0"/>
          </a:p>
        </p:txBody>
      </p:sp>
      <p:sp>
        <p:nvSpPr>
          <p:cNvPr id="5" name="Shape 3"/>
          <p:cNvSpPr/>
          <p:nvPr/>
        </p:nvSpPr>
        <p:spPr>
          <a:xfrm>
            <a:off x="457189" y="5136356"/>
            <a:ext cx="6852768" cy="1018480"/>
          </a:xfrm>
          <a:prstGeom prst="rect">
            <a:avLst/>
          </a:prstGeom>
          <a:solidFill>
            <a:srgbClr val="F1F4FD"/>
          </a:solidFill>
          <a:ln/>
        </p:spPr>
      </p:sp>
      <p:sp>
        <p:nvSpPr>
          <p:cNvPr id="6" name="Text 4"/>
          <p:cNvSpPr/>
          <p:nvPr/>
        </p:nvSpPr>
        <p:spPr>
          <a:xfrm>
            <a:off x="660383" y="5206524"/>
            <a:ext cx="6446379" cy="891480"/>
          </a:xfrm>
          <a:prstGeom prst="rect">
            <a:avLst/>
          </a:prstGeom>
          <a:noFill/>
          <a:ln/>
        </p:spPr>
        <p:txBody>
          <a:bodyPr wrap="square" lIns="0" tIns="0" rIns="0" bIns="0" rtlCol="0" anchor="t">
            <a:normAutofit/>
          </a:bodyPr>
          <a:lstStyle/>
          <a:p>
            <a:pPr marL="0" indent="0" algn="l">
              <a:lnSpc>
                <a:spcPct val="108000"/>
              </a:lnSpc>
              <a:buNone/>
            </a:pPr>
            <a:r>
              <a:rPr lang="en-US" sz="1800" b="1" dirty="0">
                <a:solidFill>
                  <a:srgbClr val="0A1540"/>
                </a:solidFill>
                <a:latin typeface="Red Hat Mono Bold" pitchFamily="34" charset="0"/>
                <a:ea typeface="Red Hat Mono Bold" pitchFamily="34" charset="-122"/>
                <a:cs typeface="Red Hat Mono Bold" pitchFamily="34" charset="-120"/>
              </a:rPr>
              <a:t>How can we compress purchase patterns without losing too much useful recommendation information?</a:t>
            </a:r>
            <a:endParaRPr lang="en-US" sz="1800" dirty="0"/>
          </a:p>
        </p:txBody>
      </p:sp>
      <p:pic>
        <p:nvPicPr>
          <p:cNvPr id="7" name="Image 0" descr="preencoded.png"/>
          <p:cNvPicPr>
            <a:picLocks noChangeAspect="1"/>
          </p:cNvPicPr>
          <p:nvPr/>
        </p:nvPicPr>
        <p:blipFill>
          <a:blip r:embed="rId3"/>
          <a:stretch>
            <a:fillRect/>
          </a:stretch>
        </p:blipFill>
        <p:spPr>
          <a:xfrm>
            <a:off x="7995641" y="2311400"/>
            <a:ext cx="3510272" cy="3860800"/>
          </a:xfrm>
          <a:prstGeom prst="rect">
            <a:avLst/>
          </a:prstGeom>
        </p:spPr>
      </p:pic>
      <p:sp>
        <p:nvSpPr>
          <p:cNvPr id="9" name="Rectangle 8">
            <a:extLst>
              <a:ext uri="{FF2B5EF4-FFF2-40B4-BE49-F238E27FC236}">
                <a16:creationId xmlns:a16="http://schemas.microsoft.com/office/drawing/2014/main" id="{F6FBFD59-4569-B1E5-35CD-E05893D0D0BC}"/>
              </a:ext>
            </a:extLst>
          </p:cNvPr>
          <p:cNvSpPr/>
          <p:nvPr/>
        </p:nvSpPr>
        <p:spPr>
          <a:xfrm>
            <a:off x="10832841" y="6494106"/>
            <a:ext cx="1358854" cy="3638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Page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64956"/>
            <a:ext cx="11734506" cy="304800"/>
          </a:xfrm>
          <a:prstGeom prst="rect">
            <a:avLst/>
          </a:prstGeom>
          <a:noFill/>
          <a:ln/>
        </p:spPr>
        <p:txBody>
          <a:bodyPr wrap="none" lIns="0" tIns="0" rIns="0" bIns="0" rtlCol="0" anchor="t"/>
          <a:lstStyle/>
          <a:p>
            <a:pPr marL="0" indent="0" algn="l">
              <a:lnSpc>
                <a:spcPct val="100000"/>
              </a:lnSpc>
              <a:buNone/>
            </a:pPr>
            <a:r>
              <a:rPr lang="en-US" sz="2000" kern="100" spc="20" dirty="0">
                <a:solidFill>
                  <a:srgbClr val="0A1540"/>
                </a:solidFill>
                <a:latin typeface="Red Hat Mono SemiBold" pitchFamily="34" charset="0"/>
                <a:ea typeface="Red Hat Mono SemiBold" pitchFamily="34" charset="-122"/>
                <a:cs typeface="Red Hat Mono SemiBold" pitchFamily="34" charset="-120"/>
              </a:rPr>
              <a:t>DATA PIPELINE &amp; CLEANING AUDIT</a:t>
            </a:r>
            <a:endParaRPr lang="en-US" sz="2000" dirty="0"/>
          </a:p>
        </p:txBody>
      </p:sp>
      <p:sp>
        <p:nvSpPr>
          <p:cNvPr id="3" name="Text 1"/>
          <p:cNvSpPr/>
          <p:nvPr/>
        </p:nvSpPr>
        <p:spPr>
          <a:xfrm>
            <a:off x="457189" y="895350"/>
            <a:ext cx="11277318" cy="482600"/>
          </a:xfrm>
          <a:prstGeom prst="rect">
            <a:avLst/>
          </a:prstGeom>
          <a:noFill/>
          <a:ln/>
        </p:spPr>
        <p:txBody>
          <a:bodyPr wrap="none" lIns="0" tIns="0" rIns="0" bIns="0" rtlCol="0" anchor="t"/>
          <a:lstStyle/>
          <a:p>
            <a:pPr marL="0" indent="0" algn="l">
              <a:lnSpc>
                <a:spcPct val="79000"/>
              </a:lnSpc>
              <a:buNone/>
            </a:pPr>
            <a:r>
              <a:rPr lang="en-US" sz="4000" dirty="0">
                <a:solidFill>
                  <a:srgbClr val="0A1540"/>
                </a:solidFill>
                <a:latin typeface="Sofia Sans Extra Condensed Black" pitchFamily="34" charset="0"/>
                <a:ea typeface="Sofia Sans Extra Condensed Black" pitchFamily="34" charset="-122"/>
                <a:cs typeface="Sofia Sans Extra Condensed Black" pitchFamily="34" charset="-120"/>
              </a:rPr>
              <a:t>FROM 1 MILLION TRANSACTIONS TO A CLEAN PURCHASE MATRIX</a:t>
            </a:r>
            <a:endParaRPr lang="en-US" sz="4000" dirty="0"/>
          </a:p>
        </p:txBody>
      </p:sp>
      <p:sp>
        <p:nvSpPr>
          <p:cNvPr id="4" name="Text 2"/>
          <p:cNvSpPr/>
          <p:nvPr/>
        </p:nvSpPr>
        <p:spPr>
          <a:xfrm>
            <a:off x="457189" y="1602105"/>
            <a:ext cx="5486263" cy="594320"/>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44507A"/>
                </a:solidFill>
                <a:latin typeface="Host Grotesk" pitchFamily="34" charset="0"/>
                <a:ea typeface="Host Grotesk" pitchFamily="34" charset="-122"/>
                <a:cs typeface="Host Grotesk" pitchFamily="34" charset="-120"/>
              </a:rPr>
              <a:t>Raw transactions → Profiling → Cleaning → Time-based split → Sparse customer-product matrix</a:t>
            </a:r>
            <a:endParaRPr lang="en-US" sz="1800" dirty="0"/>
          </a:p>
        </p:txBody>
      </p:sp>
      <p:sp>
        <p:nvSpPr>
          <p:cNvPr id="5" name="Text 3"/>
          <p:cNvSpPr/>
          <p:nvPr/>
        </p:nvSpPr>
        <p:spPr>
          <a:xfrm>
            <a:off x="457189" y="2343745"/>
            <a:ext cx="5486263" cy="4079875"/>
          </a:xfrm>
          <a:prstGeom prst="rect">
            <a:avLst/>
          </a:prstGeom>
          <a:noFill/>
          <a:ln/>
        </p:spPr>
        <p:txBody>
          <a:bodyPr wrap="square" lIns="0" tIns="0" rIns="0" bIns="0" rtlCol="0" anchor="t">
            <a:normAutofit/>
          </a:bodyPr>
          <a:lstStyle/>
          <a:p>
            <a:pPr marL="0" indent="0" algn="l">
              <a:lnSpc>
                <a:spcPct val="108000"/>
              </a:lnSpc>
              <a:buNone/>
            </a:pPr>
            <a:r>
              <a:rPr lang="en-US" sz="2000" b="1" dirty="0">
                <a:solidFill>
                  <a:srgbClr val="0A1540"/>
                </a:solidFill>
                <a:latin typeface="Host Grotesk Bold" pitchFamily="34" charset="0"/>
                <a:ea typeface="Host Grotesk Bold" pitchFamily="34" charset="-122"/>
                <a:cs typeface="Host Grotesk Bold" pitchFamily="34" charset="-120"/>
              </a:rPr>
              <a:t>UCI Online Retail II</a:t>
            </a:r>
            <a:endParaRPr lang="en-US" sz="2000" dirty="0"/>
          </a:p>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About Dec 2009 to Dec 2011</a:t>
            </a:r>
            <a:endParaRPr lang="en-US" sz="2000" dirty="0"/>
          </a:p>
          <a:p>
            <a:pPr marL="0" indent="0" algn="l">
              <a:lnSpc>
                <a:spcPct val="108000"/>
              </a:lnSpc>
              <a:spcAft>
                <a:spcPts val="1150"/>
              </a:spcAft>
              <a:buNone/>
            </a:pPr>
            <a:r>
              <a:rPr lang="en-US" sz="2000" dirty="0">
                <a:solidFill>
                  <a:srgbClr val="0A1540"/>
                </a:solidFill>
                <a:latin typeface="Host Grotesk" pitchFamily="34" charset="0"/>
                <a:ea typeface="Host Grotesk" pitchFamily="34" charset="-122"/>
                <a:cs typeface="Host Grotesk" pitchFamily="34" charset="-120"/>
              </a:rPr>
              <a:t>1,067,371 invoice lines</a:t>
            </a:r>
            <a:endParaRPr lang="en-US" sz="2000" dirty="0"/>
          </a:p>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Missing customer IDs: 243,007 (about 22.77%)</a:t>
            </a:r>
            <a:endParaRPr lang="en-US" sz="2000" dirty="0"/>
          </a:p>
          <a:p>
            <a:pPr marL="0" indent="0" algn="l">
              <a:lnSpc>
                <a:spcPct val="108000"/>
              </a:lnSpc>
              <a:spcAft>
                <a:spcPts val="1150"/>
              </a:spcAft>
              <a:buNone/>
            </a:pPr>
            <a:r>
              <a:rPr lang="en-US" sz="2000" dirty="0">
                <a:solidFill>
                  <a:srgbClr val="0A1540"/>
                </a:solidFill>
                <a:latin typeface="Host Grotesk" pitchFamily="34" charset="0"/>
                <a:ea typeface="Host Grotesk" pitchFamily="34" charset="-122"/>
                <a:cs typeface="Host Grotesk" pitchFamily="34" charset="-120"/>
              </a:rPr>
              <a:t>Missing descriptions: 4,382 (about 0.41%)</a:t>
            </a:r>
            <a:endParaRPr lang="en-US" sz="2000" dirty="0"/>
          </a:p>
          <a:p>
            <a:pPr marL="0" indent="0" algn="l">
              <a:lnSpc>
                <a:spcPct val="108000"/>
              </a:lnSpc>
              <a:buNone/>
            </a:pPr>
            <a:r>
              <a:rPr lang="en-US" sz="2000" b="1" dirty="0">
                <a:solidFill>
                  <a:srgbClr val="0A1540"/>
                </a:solidFill>
                <a:latin typeface="Host Grotesk Bold" pitchFamily="34" charset="0"/>
                <a:ea typeface="Host Grotesk Bold" pitchFamily="34" charset="-122"/>
                <a:cs typeface="Host Grotesk Bold" pitchFamily="34" charset="-120"/>
              </a:rPr>
              <a:t>Retained 776,577 rows</a:t>
            </a:r>
            <a:endParaRPr lang="en-US" sz="2000" dirty="0"/>
          </a:p>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660,194 training · 71,393 test</a:t>
            </a:r>
            <a:endParaRPr lang="en-US" sz="2000" dirty="0"/>
          </a:p>
          <a:p>
            <a:pPr marL="0" indent="0" algn="l">
              <a:lnSpc>
                <a:spcPct val="108000"/>
              </a:lnSpc>
              <a:spcAft>
                <a:spcPts val="1150"/>
              </a:spcAft>
              <a:buNone/>
            </a:pPr>
            <a:r>
              <a:rPr lang="en-US" sz="2000" dirty="0">
                <a:solidFill>
                  <a:srgbClr val="0A1540"/>
                </a:solidFill>
                <a:latin typeface="Host Grotesk" pitchFamily="34" charset="0"/>
                <a:ea typeface="Host Grotesk" pitchFamily="34" charset="-122"/>
                <a:cs typeface="Host Grotesk" pitchFamily="34" charset="-120"/>
              </a:rPr>
              <a:t>Cutoff October 9, 2011, 12:50</a:t>
            </a:r>
            <a:endParaRPr lang="en-US" sz="2000" dirty="0"/>
          </a:p>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Model built on training period only; later test period held out to reduce leakage.</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48244" y="1600200"/>
          <a:ext cx="5486263" cy="4140095"/>
        </p:xfrm>
        <a:graphic>
          <a:graphicData uri="http://schemas.openxmlformats.org/drawingml/2006/table">
            <a:tbl>
              <a:tblPr/>
              <a:tblGrid>
                <a:gridCol w="3950097">
                  <a:extLst>
                    <a:ext uri="{9D8B030D-6E8A-4147-A177-3AD203B41FA5}">
                      <a16:colId xmlns:a16="http://schemas.microsoft.com/office/drawing/2014/main" val="20000"/>
                    </a:ext>
                  </a:extLst>
                </a:gridCol>
                <a:gridCol w="1536166">
                  <a:extLst>
                    <a:ext uri="{9D8B030D-6E8A-4147-A177-3AD203B41FA5}">
                      <a16:colId xmlns:a16="http://schemas.microsoft.com/office/drawing/2014/main" val="20001"/>
                    </a:ext>
                  </a:extLst>
                </a:gridCol>
              </a:tblGrid>
              <a:tr h="876278">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Cleaning rule</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Rows removed</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0"/>
                  </a:ext>
                </a:extLst>
              </a:tr>
              <a:tr h="546086">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Cancellations</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19,494</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1"/>
                  </a:ext>
                </a:extLst>
              </a:tr>
              <a:tr h="546086">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Non-positive quantity or price</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6,207</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2"/>
                  </a:ext>
                </a:extLst>
              </a:tr>
              <a:tr h="546086">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Non-product codes</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4,793</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3"/>
                  </a:ext>
                </a:extLst>
              </a:tr>
              <a:tr h="546086">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Missing customer ID</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234,245</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4"/>
                  </a:ext>
                </a:extLst>
              </a:tr>
              <a:tr h="546086">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Duplicates</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2000" dirty="0">
                          <a:solidFill>
                            <a:srgbClr val="0A1540"/>
                          </a:solidFill>
                          <a:latin typeface="Host Grotesk" pitchFamily="34" charset="0"/>
                          <a:ea typeface="Host Grotesk" pitchFamily="34" charset="-122"/>
                          <a:cs typeface="Host Grotesk" pitchFamily="34" charset="-120"/>
                        </a:rPr>
                        <a:t>26,055</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5"/>
                  </a:ext>
                </a:extLst>
              </a:tr>
              <a:tr h="533387">
                <a:tc>
                  <a:txBody>
                    <a:bodyPr/>
                    <a:lstStyle/>
                    <a:p>
                      <a:pPr marL="0" indent="0" algn="l">
                        <a:buNone/>
                      </a:pPr>
                      <a:r>
                        <a:rPr lang="en-US" sz="2000" b="1" dirty="0">
                          <a:solidFill>
                            <a:srgbClr val="0A1540"/>
                          </a:solidFill>
                          <a:latin typeface="Host Grotesk" pitchFamily="34" charset="0"/>
                          <a:ea typeface="Host Grotesk" pitchFamily="34" charset="-122"/>
                          <a:cs typeface="Host Grotesk" pitchFamily="34" charset="-120"/>
                        </a:rPr>
                        <a:t>Total rows removed</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2000" b="1" dirty="0">
                          <a:solidFill>
                            <a:srgbClr val="0A1540"/>
                          </a:solidFill>
                          <a:latin typeface="Host Grotesk" pitchFamily="34" charset="0"/>
                          <a:ea typeface="Host Grotesk" pitchFamily="34" charset="-122"/>
                          <a:cs typeface="Host Grotesk" pitchFamily="34" charset="-120"/>
                        </a:rPr>
                        <a:t>290,794</a:t>
                      </a:r>
                      <a:endParaRPr lang="en-US" sz="2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Rectangle 7">
            <a:extLst>
              <a:ext uri="{FF2B5EF4-FFF2-40B4-BE49-F238E27FC236}">
                <a16:creationId xmlns:a16="http://schemas.microsoft.com/office/drawing/2014/main" id="{6BC3B4ED-94E4-E923-7408-2350817293FD}"/>
              </a:ext>
            </a:extLst>
          </p:cNvPr>
          <p:cNvSpPr/>
          <p:nvPr/>
        </p:nvSpPr>
        <p:spPr>
          <a:xfrm>
            <a:off x="10832841" y="6494106"/>
            <a:ext cx="1358854" cy="3638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Page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64956"/>
            <a:ext cx="11734506" cy="304800"/>
          </a:xfrm>
          <a:prstGeom prst="rect">
            <a:avLst/>
          </a:prstGeom>
          <a:noFill/>
          <a:ln/>
        </p:spPr>
        <p:txBody>
          <a:bodyPr wrap="none" lIns="0" tIns="0" rIns="0" bIns="0" rtlCol="0" anchor="t"/>
          <a:lstStyle/>
          <a:p>
            <a:pPr marL="0" indent="0" algn="l">
              <a:lnSpc>
                <a:spcPct val="100000"/>
              </a:lnSpc>
              <a:buNone/>
            </a:pPr>
            <a:r>
              <a:rPr lang="en-US" sz="2000" kern="100" spc="20" dirty="0">
                <a:solidFill>
                  <a:srgbClr val="0A1540"/>
                </a:solidFill>
                <a:latin typeface="Red Hat Mono SemiBold" pitchFamily="34" charset="0"/>
                <a:ea typeface="Red Hat Mono SemiBold" pitchFamily="34" charset="-122"/>
                <a:cs typeface="Red Hat Mono SemiBold" pitchFamily="34" charset="-120"/>
              </a:rPr>
              <a:t>SPARSITY VS. LATENT COMPRESSION</a:t>
            </a:r>
            <a:endParaRPr lang="en-US" sz="2000" dirty="0"/>
          </a:p>
        </p:txBody>
      </p:sp>
      <p:sp>
        <p:nvSpPr>
          <p:cNvPr id="3" name="Text 1"/>
          <p:cNvSpPr/>
          <p:nvPr/>
        </p:nvSpPr>
        <p:spPr>
          <a:xfrm>
            <a:off x="457189" y="895350"/>
            <a:ext cx="11277318" cy="482600"/>
          </a:xfrm>
          <a:prstGeom prst="rect">
            <a:avLst/>
          </a:prstGeom>
          <a:noFill/>
          <a:ln/>
        </p:spPr>
        <p:txBody>
          <a:bodyPr wrap="none" lIns="0" tIns="0" rIns="0" bIns="0" rtlCol="0" anchor="t"/>
          <a:lstStyle/>
          <a:p>
            <a:pPr marL="0" indent="0" algn="l">
              <a:lnSpc>
                <a:spcPct val="79000"/>
              </a:lnSpc>
              <a:buNone/>
            </a:pPr>
            <a:r>
              <a:rPr lang="en-US" sz="4000" dirty="0">
                <a:solidFill>
                  <a:srgbClr val="0A1540"/>
                </a:solidFill>
                <a:latin typeface="Sofia Sans Extra Condensed Black" pitchFamily="34" charset="0"/>
                <a:ea typeface="Sofia Sans Extra Condensed Black" pitchFamily="34" charset="-122"/>
                <a:cs typeface="Sofia Sans Extra Condensed Black" pitchFamily="34" charset="-120"/>
              </a:rPr>
              <a:t>WHY THE PURCHASE MATRIX NEEDS COMPRESSION</a:t>
            </a:r>
            <a:endParaRPr lang="en-US" sz="4000" dirty="0"/>
          </a:p>
        </p:txBody>
      </p:sp>
      <p:sp>
        <p:nvSpPr>
          <p:cNvPr id="4" name="Text 2"/>
          <p:cNvSpPr/>
          <p:nvPr/>
        </p:nvSpPr>
        <p:spPr>
          <a:xfrm>
            <a:off x="457189" y="1678369"/>
            <a:ext cx="3530512" cy="849313"/>
          </a:xfrm>
          <a:prstGeom prst="rect">
            <a:avLst/>
          </a:prstGeom>
          <a:noFill/>
          <a:ln/>
        </p:spPr>
        <p:txBody>
          <a:bodyPr wrap="none" lIns="0" tIns="0" rIns="0" bIns="0" rtlCol="0" anchor="t"/>
          <a:lstStyle/>
          <a:p>
            <a:pPr marL="0" indent="0" algn="l">
              <a:lnSpc>
                <a:spcPct val="73000"/>
              </a:lnSpc>
              <a:buNone/>
            </a:pPr>
            <a:r>
              <a:rPr lang="en-US" sz="7600" kern="100" spc="-38" dirty="0">
                <a:solidFill>
                  <a:srgbClr val="000000"/>
                </a:solidFill>
                <a:highlight>
                  <a:srgbClr val="FFE83D"/>
                </a:highlight>
                <a:latin typeface="Sofia Sans Extra Condensed Black" pitchFamily="34" charset="0"/>
                <a:ea typeface="Sofia Sans Extra Condensed Black" pitchFamily="34" charset="-122"/>
                <a:cs typeface="Sofia Sans Extra Condensed Black" pitchFamily="34" charset="-120"/>
              </a:rPr>
              <a:t>97.95%</a:t>
            </a:r>
            <a:endParaRPr lang="en-US" sz="7600" dirty="0"/>
          </a:p>
        </p:txBody>
      </p:sp>
      <p:sp>
        <p:nvSpPr>
          <p:cNvPr id="5" name="Text 3"/>
          <p:cNvSpPr/>
          <p:nvPr/>
        </p:nvSpPr>
        <p:spPr>
          <a:xfrm>
            <a:off x="457189" y="2711450"/>
            <a:ext cx="3759106" cy="330200"/>
          </a:xfrm>
          <a:prstGeom prst="rect">
            <a:avLst/>
          </a:prstGeom>
          <a:noFill/>
          <a:ln/>
        </p:spPr>
        <p:txBody>
          <a:bodyPr wrap="none" lIns="0" tIns="0" rIns="0" bIns="0" rtlCol="0" anchor="t"/>
          <a:lstStyle/>
          <a:p>
            <a:pPr marL="0" indent="0" algn="l">
              <a:lnSpc>
                <a:spcPct val="108000"/>
              </a:lnSpc>
              <a:buNone/>
            </a:pPr>
            <a:r>
              <a:rPr lang="en-US" sz="2000" dirty="0">
                <a:solidFill>
                  <a:srgbClr val="0A1540"/>
                </a:solidFill>
                <a:latin typeface="Red Hat Mono" pitchFamily="34" charset="0"/>
                <a:ea typeface="Red Hat Mono" pitchFamily="34" charset="-122"/>
                <a:cs typeface="Red Hat Mono" pitchFamily="34" charset="-120"/>
              </a:rPr>
              <a:t>Matrix Sparsity</a:t>
            </a:r>
            <a:endParaRPr lang="en-US" sz="2000" dirty="0"/>
          </a:p>
        </p:txBody>
      </p:sp>
      <p:sp>
        <p:nvSpPr>
          <p:cNvPr id="6" name="Text 4"/>
          <p:cNvSpPr/>
          <p:nvPr/>
        </p:nvSpPr>
        <p:spPr>
          <a:xfrm>
            <a:off x="457189" y="3184843"/>
            <a:ext cx="3530512" cy="1485801"/>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0A1540"/>
                </a:solidFill>
                <a:latin typeface="Host Grotesk" pitchFamily="34" charset="0"/>
                <a:ea typeface="Host Grotesk" pitchFamily="34" charset="-122"/>
                <a:cs typeface="Host Grotesk" pitchFamily="34" charset="-120"/>
              </a:rPr>
              <a:t>Out of 20,178,951 potential cells (5,473 customers × 3,687 products), only 413,927 entries contain non-zero purchase activity.</a:t>
            </a:r>
            <a:endParaRPr lang="en-US" sz="1800" dirty="0"/>
          </a:p>
        </p:txBody>
      </p:sp>
      <p:sp>
        <p:nvSpPr>
          <p:cNvPr id="7" name="Text 5"/>
          <p:cNvSpPr/>
          <p:nvPr/>
        </p:nvSpPr>
        <p:spPr>
          <a:xfrm>
            <a:off x="4444889" y="1678369"/>
            <a:ext cx="3301917" cy="849313"/>
          </a:xfrm>
          <a:prstGeom prst="rect">
            <a:avLst/>
          </a:prstGeom>
          <a:noFill/>
          <a:ln/>
        </p:spPr>
        <p:txBody>
          <a:bodyPr wrap="none" lIns="0" tIns="0" rIns="0" bIns="0" rtlCol="0" anchor="t"/>
          <a:lstStyle/>
          <a:p>
            <a:pPr marL="0" indent="0" algn="l">
              <a:lnSpc>
                <a:spcPct val="73000"/>
              </a:lnSpc>
              <a:buNone/>
            </a:pPr>
            <a:r>
              <a:rPr lang="en-US" sz="7600" kern="100" spc="-38" dirty="0">
                <a:solidFill>
                  <a:srgbClr val="0A1540"/>
                </a:solidFill>
                <a:latin typeface="Sofia Sans Extra Condensed Black" pitchFamily="34" charset="0"/>
                <a:ea typeface="Sofia Sans Extra Condensed Black" pitchFamily="34" charset="-122"/>
                <a:cs typeface="Sofia Sans Extra Condensed Black" pitchFamily="34" charset="-120"/>
              </a:rPr>
              <a:t>161.4</a:t>
            </a:r>
            <a:r>
              <a:rPr lang="en-US" sz="3200" kern="100" spc="-38" dirty="0">
                <a:solidFill>
                  <a:srgbClr val="0A1540"/>
                </a:solidFill>
                <a:latin typeface="Sofia Sans Extra Condensed Black" pitchFamily="34" charset="0"/>
                <a:ea typeface="Sofia Sans Extra Condensed Black" pitchFamily="34" charset="-122"/>
                <a:cs typeface="Sofia Sans Extra Condensed Black" pitchFamily="34" charset="-120"/>
              </a:rPr>
              <a:t>MB</a:t>
            </a:r>
            <a:endParaRPr lang="en-US" sz="7600" dirty="0"/>
          </a:p>
        </p:txBody>
      </p:sp>
      <p:sp>
        <p:nvSpPr>
          <p:cNvPr id="8" name="Text 6"/>
          <p:cNvSpPr/>
          <p:nvPr/>
        </p:nvSpPr>
        <p:spPr>
          <a:xfrm>
            <a:off x="4444889" y="2711450"/>
            <a:ext cx="3530512" cy="330200"/>
          </a:xfrm>
          <a:prstGeom prst="rect">
            <a:avLst/>
          </a:prstGeom>
          <a:noFill/>
          <a:ln/>
        </p:spPr>
        <p:txBody>
          <a:bodyPr wrap="none" lIns="0" tIns="0" rIns="0" bIns="0" rtlCol="0" anchor="t"/>
          <a:lstStyle/>
          <a:p>
            <a:pPr marL="0" indent="0" algn="l">
              <a:lnSpc>
                <a:spcPct val="108000"/>
              </a:lnSpc>
              <a:buNone/>
            </a:pPr>
            <a:r>
              <a:rPr lang="en-US" sz="2000" dirty="0">
                <a:solidFill>
                  <a:srgbClr val="0A1540"/>
                </a:solidFill>
                <a:latin typeface="Red Hat Mono" pitchFamily="34" charset="0"/>
                <a:ea typeface="Red Hat Mono" pitchFamily="34" charset="-122"/>
                <a:cs typeface="Red Hat Mono" pitchFamily="34" charset="-120"/>
              </a:rPr>
              <a:t>Dense Array Storage</a:t>
            </a:r>
            <a:endParaRPr lang="en-US" sz="2000" dirty="0"/>
          </a:p>
        </p:txBody>
      </p:sp>
      <p:sp>
        <p:nvSpPr>
          <p:cNvPr id="9" name="Text 7"/>
          <p:cNvSpPr/>
          <p:nvPr/>
        </p:nvSpPr>
        <p:spPr>
          <a:xfrm>
            <a:off x="4444889" y="3184843"/>
            <a:ext cx="3301917" cy="1485801"/>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0A1540"/>
                </a:solidFill>
                <a:latin typeface="Host Grotesk" pitchFamily="34" charset="0"/>
                <a:ea typeface="Host Grotesk" pitchFamily="34" charset="-122"/>
                <a:cs typeface="Host Grotesk" pitchFamily="34" charset="-120"/>
              </a:rPr>
              <a:t>Estimated RAM footprint if stored as an uncompressed dense float array. Compressed sparse CSR storage requires just </a:t>
            </a:r>
            <a:r>
              <a:rPr lang="en-US" sz="1800" b="1" dirty="0">
                <a:solidFill>
                  <a:srgbClr val="0A1540"/>
                </a:solidFill>
                <a:latin typeface="Host Grotesk Bold" pitchFamily="34" charset="0"/>
                <a:ea typeface="Host Grotesk Bold" pitchFamily="34" charset="-122"/>
                <a:cs typeface="Host Grotesk Bold" pitchFamily="34" charset="-120"/>
              </a:rPr>
              <a:t>3.333 MB</a:t>
            </a:r>
            <a:r>
              <a:rPr lang="en-US" sz="1800" dirty="0">
                <a:solidFill>
                  <a:srgbClr val="0A1540"/>
                </a:solidFill>
                <a:latin typeface="Host Grotesk" pitchFamily="34" charset="0"/>
                <a:ea typeface="Host Grotesk" pitchFamily="34" charset="-122"/>
                <a:cs typeface="Host Grotesk" pitchFamily="34" charset="-120"/>
              </a:rPr>
              <a:t>.</a:t>
            </a:r>
            <a:endParaRPr lang="en-US" sz="1800" dirty="0"/>
          </a:p>
        </p:txBody>
      </p:sp>
      <p:sp>
        <p:nvSpPr>
          <p:cNvPr id="10" name="Text 8"/>
          <p:cNvSpPr/>
          <p:nvPr/>
        </p:nvSpPr>
        <p:spPr>
          <a:xfrm>
            <a:off x="8203995" y="1678369"/>
            <a:ext cx="3530512" cy="849313"/>
          </a:xfrm>
          <a:prstGeom prst="rect">
            <a:avLst/>
          </a:prstGeom>
          <a:noFill/>
          <a:ln/>
        </p:spPr>
        <p:txBody>
          <a:bodyPr wrap="none" lIns="0" tIns="0" rIns="0" bIns="0" rtlCol="0" anchor="t"/>
          <a:lstStyle/>
          <a:p>
            <a:pPr marL="0" indent="0" algn="l">
              <a:lnSpc>
                <a:spcPct val="73000"/>
              </a:lnSpc>
              <a:buNone/>
            </a:pPr>
            <a:r>
              <a:rPr lang="en-US" sz="7600" kern="100" spc="-38" dirty="0">
                <a:solidFill>
                  <a:srgbClr val="0A1540"/>
                </a:solidFill>
                <a:latin typeface="Sofia Sans Extra Condensed Black" pitchFamily="34" charset="0"/>
                <a:ea typeface="Sofia Sans Extra Condensed Black" pitchFamily="34" charset="-122"/>
                <a:cs typeface="Sofia Sans Extra Condensed Black" pitchFamily="34" charset="-120"/>
              </a:rPr>
              <a:t>1.83</a:t>
            </a:r>
            <a:r>
              <a:rPr lang="en-US" sz="3200" kern="100" spc="-38" dirty="0">
                <a:solidFill>
                  <a:srgbClr val="0A1540"/>
                </a:solidFill>
                <a:latin typeface="Sofia Sans Extra Condensed Black" pitchFamily="34" charset="0"/>
                <a:ea typeface="Sofia Sans Extra Condensed Black" pitchFamily="34" charset="-122"/>
                <a:cs typeface="Sofia Sans Extra Condensed Black" pitchFamily="34" charset="-120"/>
              </a:rPr>
              <a:t>MB</a:t>
            </a:r>
            <a:endParaRPr lang="en-US" sz="7600" dirty="0"/>
          </a:p>
        </p:txBody>
      </p:sp>
      <p:sp>
        <p:nvSpPr>
          <p:cNvPr id="11" name="Text 9"/>
          <p:cNvSpPr/>
          <p:nvPr/>
        </p:nvSpPr>
        <p:spPr>
          <a:xfrm>
            <a:off x="8203995" y="2711450"/>
            <a:ext cx="3530512"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A1540"/>
                </a:solidFill>
                <a:latin typeface="Red Hat Mono" pitchFamily="34" charset="0"/>
                <a:ea typeface="Red Hat Mono" pitchFamily="34" charset="-122"/>
                <a:cs typeface="Red Hat Mono" pitchFamily="34" charset="-120"/>
              </a:rPr>
              <a:t>Latent Factor Store (k = 50)</a:t>
            </a:r>
            <a:endParaRPr lang="en-US" sz="2000" dirty="0"/>
          </a:p>
        </p:txBody>
      </p:sp>
      <p:sp>
        <p:nvSpPr>
          <p:cNvPr id="12" name="Text 10"/>
          <p:cNvSpPr/>
          <p:nvPr/>
        </p:nvSpPr>
        <p:spPr>
          <a:xfrm>
            <a:off x="8203995" y="3515043"/>
            <a:ext cx="3530512" cy="1485801"/>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0A1540"/>
                </a:solidFill>
                <a:latin typeface="Host Grotesk" pitchFamily="34" charset="0"/>
                <a:ea typeface="Host Grotesk" pitchFamily="34" charset="-122"/>
                <a:cs typeface="Host Grotesk" pitchFamily="34" charset="-120"/>
              </a:rPr>
              <a:t>Total footprint of customer and product factor representations after reduction. Compressing latent features decouples serving from raw matrix size.</a:t>
            </a:r>
            <a:endParaRPr lang="en-US" sz="1800" dirty="0"/>
          </a:p>
        </p:txBody>
      </p:sp>
      <p:sp>
        <p:nvSpPr>
          <p:cNvPr id="13" name="Shape 11"/>
          <p:cNvSpPr/>
          <p:nvPr/>
        </p:nvSpPr>
        <p:spPr>
          <a:xfrm>
            <a:off x="457189" y="5204520"/>
            <a:ext cx="11277318" cy="1196280"/>
          </a:xfrm>
          <a:prstGeom prst="rect">
            <a:avLst/>
          </a:prstGeom>
          <a:solidFill>
            <a:srgbClr val="F1F4FD"/>
          </a:solidFill>
          <a:ln/>
        </p:spPr>
      </p:sp>
      <p:sp>
        <p:nvSpPr>
          <p:cNvPr id="14" name="Text 12"/>
          <p:cNvSpPr/>
          <p:nvPr/>
        </p:nvSpPr>
        <p:spPr>
          <a:xfrm>
            <a:off x="711182" y="5358825"/>
            <a:ext cx="10769331" cy="891480"/>
          </a:xfrm>
          <a:prstGeom prst="rect">
            <a:avLst/>
          </a:prstGeom>
          <a:noFill/>
          <a:ln/>
        </p:spPr>
        <p:txBody>
          <a:bodyPr wrap="square" lIns="0" tIns="0" rIns="0" bIns="0" rtlCol="0" anchor="t">
            <a:normAutofit/>
          </a:bodyPr>
          <a:lstStyle/>
          <a:p>
            <a:pPr marL="0" indent="0" algn="l">
              <a:lnSpc>
                <a:spcPct val="108000"/>
              </a:lnSpc>
              <a:buNone/>
            </a:pPr>
            <a:r>
              <a:rPr lang="en-US" sz="1800" b="1" dirty="0">
                <a:solidFill>
                  <a:srgbClr val="0A1540"/>
                </a:solidFill>
                <a:latin typeface="Host Grotesk Bold" pitchFamily="34" charset="0"/>
                <a:ea typeface="Host Grotesk Bold" pitchFamily="34" charset="-122"/>
                <a:cs typeface="Host Grotesk Bold" pitchFamily="34" charset="-120"/>
              </a:rPr>
              <a:t>Key Architectural Distinction:</a:t>
            </a:r>
            <a:r>
              <a:rPr lang="en-US" sz="1800" dirty="0">
                <a:solidFill>
                  <a:srgbClr val="0A1540"/>
                </a:solidFill>
                <a:latin typeface="Host Grotesk" pitchFamily="34" charset="0"/>
                <a:ea typeface="Host Grotesk" pitchFamily="34" charset="-122"/>
                <a:cs typeface="Host Grotesk" pitchFamily="34" charset="-120"/>
              </a:rPr>
              <a:t> Sparse CSR storage (3.333 MB) retains exact raw sales values efficiently, whereas compressed factor storage (1.832 MB) creates dense latent embeddings that generalize customer tastes and power instant similarity lookup.</a:t>
            </a:r>
            <a:endParaRPr lang="en-US" sz="1800" dirty="0"/>
          </a:p>
        </p:txBody>
      </p:sp>
      <p:sp>
        <p:nvSpPr>
          <p:cNvPr id="15" name="Shape 13"/>
          <p:cNvSpPr/>
          <p:nvPr/>
        </p:nvSpPr>
        <p:spPr>
          <a:xfrm>
            <a:off x="4206770" y="1600200"/>
            <a:ext cx="19050" cy="3401120"/>
          </a:xfrm>
          <a:prstGeom prst="rect">
            <a:avLst/>
          </a:prstGeom>
          <a:solidFill>
            <a:srgbClr val="0A1540"/>
          </a:solidFill>
          <a:ln/>
        </p:spPr>
      </p:sp>
      <p:sp>
        <p:nvSpPr>
          <p:cNvPr id="16" name="Shape 14"/>
          <p:cNvSpPr/>
          <p:nvPr/>
        </p:nvSpPr>
        <p:spPr>
          <a:xfrm>
            <a:off x="7965876" y="1600200"/>
            <a:ext cx="19050" cy="3401120"/>
          </a:xfrm>
          <a:prstGeom prst="rect">
            <a:avLst/>
          </a:prstGeom>
          <a:solidFill>
            <a:srgbClr val="0A1540"/>
          </a:solidFill>
          <a:ln/>
        </p:spPr>
      </p:sp>
      <p:sp>
        <p:nvSpPr>
          <p:cNvPr id="18" name="Rectangle 17">
            <a:extLst>
              <a:ext uri="{FF2B5EF4-FFF2-40B4-BE49-F238E27FC236}">
                <a16:creationId xmlns:a16="http://schemas.microsoft.com/office/drawing/2014/main" id="{C1479E7F-C898-CB62-9885-5450DBCAB186}"/>
              </a:ext>
            </a:extLst>
          </p:cNvPr>
          <p:cNvSpPr/>
          <p:nvPr/>
        </p:nvSpPr>
        <p:spPr>
          <a:xfrm>
            <a:off x="10832841" y="6494106"/>
            <a:ext cx="1358854" cy="3638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Page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88950"/>
            <a:ext cx="11277318" cy="482600"/>
          </a:xfrm>
          <a:prstGeom prst="rect">
            <a:avLst/>
          </a:prstGeom>
          <a:noFill/>
          <a:ln/>
        </p:spPr>
        <p:txBody>
          <a:bodyPr wrap="none" lIns="0" tIns="0" rIns="0" bIns="0" rtlCol="0" anchor="t"/>
          <a:lstStyle/>
          <a:p>
            <a:pPr marL="0" indent="0" algn="l">
              <a:lnSpc>
                <a:spcPct val="79000"/>
              </a:lnSpc>
              <a:buNone/>
            </a:pPr>
            <a:r>
              <a:rPr lang="en-US" sz="4000" dirty="0">
                <a:solidFill>
                  <a:srgbClr val="0A1540"/>
                </a:solidFill>
                <a:latin typeface="Sofia Sans Extra Condensed Black" pitchFamily="34" charset="0"/>
                <a:ea typeface="Sofia Sans Extra Condensed Black" pitchFamily="34" charset="-122"/>
                <a:cs typeface="Sofia Sans Extra Condensed Black" pitchFamily="34" charset="-120"/>
              </a:rPr>
              <a:t>COMPARING TWO DIMENSIONALITY-REDUCTION METHODS</a:t>
            </a:r>
            <a:endParaRPr lang="en-US" sz="4000" dirty="0"/>
          </a:p>
        </p:txBody>
      </p:sp>
      <p:sp>
        <p:nvSpPr>
          <p:cNvPr id="3" name="Text 1"/>
          <p:cNvSpPr/>
          <p:nvPr/>
        </p:nvSpPr>
        <p:spPr>
          <a:xfrm>
            <a:off x="457189" y="1210401"/>
            <a:ext cx="5410065" cy="350441"/>
          </a:xfrm>
          <a:prstGeom prst="rect">
            <a:avLst/>
          </a:prstGeom>
          <a:noFill/>
          <a:ln/>
        </p:spPr>
        <p:txBody>
          <a:bodyPr wrap="none" lIns="0" tIns="0" rIns="0" bIns="0" rtlCol="0" anchor="t"/>
          <a:lstStyle/>
          <a:p>
            <a:pPr marL="0" indent="0" algn="l">
              <a:lnSpc>
                <a:spcPct val="96000"/>
              </a:lnSpc>
              <a:buNone/>
            </a:pPr>
            <a:r>
              <a:rPr lang="en-US" sz="2400" b="1" dirty="0">
                <a:solidFill>
                  <a:srgbClr val="0A1540"/>
                </a:solidFill>
                <a:latin typeface="Host Grotesk Bold" pitchFamily="34" charset="0"/>
                <a:ea typeface="Host Grotesk Bold" pitchFamily="34" charset="-122"/>
                <a:cs typeface="Host Grotesk Bold" pitchFamily="34" charset="-120"/>
              </a:rPr>
              <a:t>Principal Component Analysis (PCA)</a:t>
            </a:r>
            <a:endParaRPr lang="en-US" sz="2400" dirty="0"/>
          </a:p>
        </p:txBody>
      </p:sp>
      <p:sp>
        <p:nvSpPr>
          <p:cNvPr id="4" name="Text 2"/>
          <p:cNvSpPr/>
          <p:nvPr/>
        </p:nvSpPr>
        <p:spPr>
          <a:xfrm>
            <a:off x="457189" y="1730296"/>
            <a:ext cx="5410065" cy="2377281"/>
          </a:xfrm>
          <a:prstGeom prst="rect">
            <a:avLst/>
          </a:prstGeom>
          <a:noFill/>
          <a:ln/>
        </p:spPr>
        <p:txBody>
          <a:bodyPr wrap="square" lIns="0" tIns="0" rIns="0" bIns="0" rtlCol="0" anchor="t">
            <a:normAutofit/>
          </a:bodyPr>
          <a:lstStyle/>
          <a:p>
            <a:pPr marL="0" indent="0" algn="l">
              <a:lnSpc>
                <a:spcPct val="108000"/>
              </a:lnSpc>
              <a:buNone/>
            </a:pPr>
            <a:r>
              <a:rPr lang="en-US" sz="1800" b="1" dirty="0">
                <a:solidFill>
                  <a:srgbClr val="0A1540"/>
                </a:solidFill>
                <a:latin typeface="Host Grotesk Bold" pitchFamily="34" charset="0"/>
                <a:ea typeface="Host Grotesk Bold" pitchFamily="34" charset="-122"/>
                <a:cs typeface="Host Grotesk Bold" pitchFamily="34" charset="-120"/>
              </a:rPr>
              <a:t>Mechanism:</a:t>
            </a:r>
            <a:r>
              <a:rPr lang="en-US" sz="1800" dirty="0">
                <a:solidFill>
                  <a:srgbClr val="0A1540"/>
                </a:solidFill>
                <a:latin typeface="Host Grotesk" pitchFamily="34" charset="0"/>
                <a:ea typeface="Host Grotesk" pitchFamily="34" charset="-122"/>
                <a:cs typeface="Host Grotesk" pitchFamily="34" charset="-120"/>
              </a:rPr>
              <a:t> Centers data to find directions of maximum variance and gives a variance-explained measure. </a:t>
            </a:r>
            <a:r>
              <a:rPr lang="en-US" sz="1800" b="1" dirty="0">
                <a:solidFill>
                  <a:srgbClr val="0A1540"/>
                </a:solidFill>
                <a:latin typeface="Host Grotesk Bold" pitchFamily="34" charset="0"/>
                <a:ea typeface="Host Grotesk Bold" pitchFamily="34" charset="-122"/>
                <a:cs typeface="Host Grotesk Bold" pitchFamily="34" charset="-120"/>
              </a:rPr>
              <a:t>Variance Metric:</a:t>
            </a:r>
            <a:r>
              <a:rPr lang="en-US" sz="1800" dirty="0">
                <a:solidFill>
                  <a:srgbClr val="0A1540"/>
                </a:solidFill>
                <a:latin typeface="Host Grotesk" pitchFamily="34" charset="0"/>
                <a:ea typeface="Host Grotesk" pitchFamily="34" charset="-122"/>
                <a:cs typeface="Host Grotesk" pitchFamily="34" charset="-120"/>
              </a:rPr>
              <a:t> 65.056% of total variance at k = 50. </a:t>
            </a:r>
            <a:r>
              <a:rPr lang="en-US" sz="1800" b="1" dirty="0">
                <a:solidFill>
                  <a:srgbClr val="0A1540"/>
                </a:solidFill>
                <a:latin typeface="Host Grotesk Bold" pitchFamily="34" charset="0"/>
                <a:ea typeface="Host Grotesk Bold" pitchFamily="34" charset="-122"/>
                <a:cs typeface="Host Grotesk Bold" pitchFamily="34" charset="-120"/>
              </a:rPr>
              <a:t>Operational Cost:</a:t>
            </a:r>
            <a:r>
              <a:rPr lang="en-US" sz="1800" dirty="0">
                <a:solidFill>
                  <a:srgbClr val="0A1540"/>
                </a:solidFill>
                <a:latin typeface="Host Grotesk" pitchFamily="34" charset="0"/>
                <a:ea typeface="Host Grotesk" pitchFamily="34" charset="-122"/>
                <a:cs typeface="Host Grotesk" pitchFamily="34" charset="-120"/>
              </a:rPr>
              <a:t> Centering changes sparse structure (zeros become non-zero floats), so solver and memory need care, including specialized solvers or dense buffers. </a:t>
            </a:r>
            <a:r>
              <a:rPr lang="en-US" sz="1800" b="1" dirty="0">
                <a:solidFill>
                  <a:srgbClr val="0A1540"/>
                </a:solidFill>
                <a:latin typeface="Host Grotesk Bold" pitchFamily="34" charset="0"/>
                <a:ea typeface="Host Grotesk Bold" pitchFamily="34" charset="-122"/>
                <a:cs typeface="Host Grotesk Bold" pitchFamily="34" charset="-120"/>
              </a:rPr>
              <a:t>Fit Runtime:</a:t>
            </a:r>
            <a:r>
              <a:rPr lang="en-US" sz="1800" dirty="0">
                <a:solidFill>
                  <a:srgbClr val="0A1540"/>
                </a:solidFill>
                <a:latin typeface="Host Grotesk" pitchFamily="34" charset="0"/>
                <a:ea typeface="Host Grotesk" pitchFamily="34" charset="-122"/>
                <a:cs typeface="Host Grotesk" pitchFamily="34" charset="-120"/>
              </a:rPr>
              <a:t> 0.838 seconds in Python benchmarks.</a:t>
            </a:r>
            <a:endParaRPr lang="en-US" sz="1800" dirty="0"/>
          </a:p>
        </p:txBody>
      </p:sp>
      <p:sp>
        <p:nvSpPr>
          <p:cNvPr id="5" name="Text 3"/>
          <p:cNvSpPr/>
          <p:nvPr/>
        </p:nvSpPr>
        <p:spPr>
          <a:xfrm>
            <a:off x="6324442" y="1210401"/>
            <a:ext cx="5410065" cy="350441"/>
          </a:xfrm>
          <a:prstGeom prst="rect">
            <a:avLst/>
          </a:prstGeom>
          <a:noFill/>
          <a:ln/>
        </p:spPr>
        <p:txBody>
          <a:bodyPr wrap="none" lIns="0" tIns="0" rIns="0" bIns="0" rtlCol="0" anchor="t"/>
          <a:lstStyle/>
          <a:p>
            <a:pPr marL="0" indent="0" algn="l">
              <a:lnSpc>
                <a:spcPct val="96000"/>
              </a:lnSpc>
              <a:buNone/>
            </a:pPr>
            <a:r>
              <a:rPr lang="en-US" sz="2400" b="1" dirty="0">
                <a:solidFill>
                  <a:srgbClr val="0A1540"/>
                </a:solidFill>
                <a:latin typeface="Host Grotesk Bold" pitchFamily="34" charset="0"/>
                <a:ea typeface="Host Grotesk Bold" pitchFamily="34" charset="-122"/>
                <a:cs typeface="Host Grotesk Bold" pitchFamily="34" charset="-120"/>
              </a:rPr>
              <a:t>Truncated SVD (Primary Candidate)</a:t>
            </a:r>
            <a:endParaRPr lang="en-US" sz="2400" dirty="0"/>
          </a:p>
        </p:txBody>
      </p:sp>
      <p:sp>
        <p:nvSpPr>
          <p:cNvPr id="6" name="Text 4"/>
          <p:cNvSpPr/>
          <p:nvPr/>
        </p:nvSpPr>
        <p:spPr>
          <a:xfrm>
            <a:off x="6324442" y="1730296"/>
            <a:ext cx="5410065" cy="2392561"/>
          </a:xfrm>
          <a:prstGeom prst="rect">
            <a:avLst/>
          </a:prstGeom>
          <a:noFill/>
          <a:ln/>
        </p:spPr>
        <p:txBody>
          <a:bodyPr wrap="square" lIns="0" tIns="0" rIns="0" bIns="0" rtlCol="0" anchor="t">
            <a:normAutofit/>
          </a:bodyPr>
          <a:lstStyle/>
          <a:p>
            <a:pPr marL="0" indent="0" algn="l">
              <a:lnSpc>
                <a:spcPct val="108000"/>
              </a:lnSpc>
              <a:buNone/>
            </a:pPr>
            <a:r>
              <a:rPr lang="en-US" sz="1800" b="1" dirty="0">
                <a:solidFill>
                  <a:srgbClr val="0A1540"/>
                </a:solidFill>
                <a:latin typeface="Host Grotesk Bold" pitchFamily="34" charset="0"/>
                <a:ea typeface="Host Grotesk Bold" pitchFamily="34" charset="-122"/>
                <a:cs typeface="Host Grotesk Bold" pitchFamily="34" charset="-120"/>
              </a:rPr>
              <a:t>Mechanism:</a:t>
            </a:r>
            <a:r>
              <a:rPr lang="en-US" sz="1800" dirty="0">
                <a:solidFill>
                  <a:srgbClr val="0A1540"/>
                </a:solidFill>
                <a:latin typeface="Host Grotesk" pitchFamily="34" charset="0"/>
                <a:ea typeface="Host Grotesk" pitchFamily="34" charset="-122"/>
                <a:cs typeface="Host Grotesk" pitchFamily="34" charset="-120"/>
              </a:rPr>
              <a:t> Decomposes the matrix without centering (</a:t>
            </a:r>
            <a:r>
              <a:rPr lang="en-US" sz="1700" i="1" dirty="0">
                <a:solidFill>
                  <a:srgbClr val="0A1540"/>
                </a:solidFill>
                <a:latin typeface="Consolas" pitchFamily="34" charset="0"/>
                <a:ea typeface="Consolas" pitchFamily="34" charset="-122"/>
                <a:cs typeface="Consolas" pitchFamily="34" charset="-120"/>
              </a:rPr>
              <a:t>      </a:t>
            </a:r>
            <a:r>
              <a:rPr lang="en-US" sz="1800" dirty="0">
                <a:solidFill>
                  <a:srgbClr val="0A1540"/>
                </a:solidFill>
                <a:latin typeface="Host Grotesk" pitchFamily="34" charset="0"/>
                <a:ea typeface="Host Grotesk" pitchFamily="34" charset="-122"/>
                <a:cs typeface="Host Grotesk" pitchFamily="34" charset="-120"/>
              </a:rPr>
              <a:t>), works naturally on sparse data to yield compact customer and product factors; retained factors lose some detail. </a:t>
            </a:r>
            <a:r>
              <a:rPr lang="en-US" sz="1800" b="1" dirty="0">
                <a:solidFill>
                  <a:srgbClr val="0A1540"/>
                </a:solidFill>
                <a:latin typeface="Host Grotesk Bold" pitchFamily="34" charset="0"/>
                <a:ea typeface="Host Grotesk Bold" pitchFamily="34" charset="-122"/>
                <a:cs typeface="Host Grotesk Bold" pitchFamily="34" charset="-120"/>
              </a:rPr>
              <a:t>Error Metric:</a:t>
            </a:r>
            <a:r>
              <a:rPr lang="en-US" sz="1800" dirty="0">
                <a:solidFill>
                  <a:srgbClr val="0A1540"/>
                </a:solidFill>
                <a:latin typeface="Host Grotesk" pitchFamily="34" charset="0"/>
                <a:ea typeface="Host Grotesk" pitchFamily="34" charset="-122"/>
                <a:cs typeface="Host Grotesk" pitchFamily="34" charset="-120"/>
              </a:rPr>
              <a:t> Relative reconstruction error estimated at 0.58405 at k = 50. </a:t>
            </a:r>
            <a:r>
              <a:rPr lang="en-US" sz="1800" b="1" dirty="0">
                <a:solidFill>
                  <a:srgbClr val="0A1540"/>
                </a:solidFill>
                <a:latin typeface="Host Grotesk Bold" pitchFamily="34" charset="0"/>
                <a:ea typeface="Host Grotesk Bold" pitchFamily="34" charset="-122"/>
                <a:cs typeface="Host Grotesk Bold" pitchFamily="34" charset="-120"/>
              </a:rPr>
              <a:t>Operational Fit:</a:t>
            </a:r>
            <a:r>
              <a:rPr lang="en-US" sz="1800" dirty="0">
                <a:solidFill>
                  <a:srgbClr val="0A1540"/>
                </a:solidFill>
                <a:latin typeface="Host Grotesk" pitchFamily="34" charset="0"/>
                <a:ea typeface="Host Grotesk" pitchFamily="34" charset="-122"/>
                <a:cs typeface="Host Grotesk" pitchFamily="34" charset="-120"/>
              </a:rPr>
              <a:t> Preserves native sparse CSR storage during calculation. </a:t>
            </a:r>
            <a:r>
              <a:rPr lang="en-US" sz="1800" b="1" dirty="0">
                <a:solidFill>
                  <a:srgbClr val="0A1540"/>
                </a:solidFill>
                <a:latin typeface="Host Grotesk Bold" pitchFamily="34" charset="0"/>
                <a:ea typeface="Host Grotesk Bold" pitchFamily="34" charset="-122"/>
                <a:cs typeface="Host Grotesk Bold" pitchFamily="34" charset="-120"/>
              </a:rPr>
              <a:t>Fit Runtime:</a:t>
            </a:r>
            <a:r>
              <a:rPr lang="en-US" sz="1800" dirty="0">
                <a:solidFill>
                  <a:srgbClr val="0A1540"/>
                </a:solidFill>
                <a:latin typeface="Host Grotesk" pitchFamily="34" charset="0"/>
                <a:ea typeface="Host Grotesk" pitchFamily="34" charset="-122"/>
                <a:cs typeface="Host Grotesk" pitchFamily="34" charset="-120"/>
              </a:rPr>
              <a:t> </a:t>
            </a:r>
            <a:r>
              <a:rPr lang="en-US" sz="1800" b="1" dirty="0">
                <a:solidFill>
                  <a:srgbClr val="000000"/>
                </a:solidFill>
                <a:latin typeface="Host Grotesk Bold" pitchFamily="34" charset="0"/>
                <a:ea typeface="Host Grotesk Bold" pitchFamily="34" charset="-122"/>
                <a:cs typeface="Host Grotesk Bold" pitchFamily="34" charset="-120"/>
              </a:rPr>
              <a:t>0.163 seconds</a:t>
            </a:r>
            <a:r>
              <a:rPr lang="en-US" sz="1800" dirty="0">
                <a:solidFill>
                  <a:srgbClr val="0A1540"/>
                </a:solidFill>
                <a:latin typeface="Host Grotesk" pitchFamily="34" charset="0"/>
                <a:ea typeface="Host Grotesk" pitchFamily="34" charset="-122"/>
                <a:cs typeface="Host Grotesk" pitchFamily="34" charset="-120"/>
              </a:rPr>
              <a:t> (5.1× faster than PCA).</a:t>
            </a:r>
            <a:endParaRPr lang="en-US" sz="1800" dirty="0"/>
          </a:p>
        </p:txBody>
      </p:sp>
      <p:pic>
        <p:nvPicPr>
          <p:cNvPr id="7" name="Image 0" descr="preencoded.png"/>
          <p:cNvPicPr>
            <a:picLocks noChangeAspect="1"/>
          </p:cNvPicPr>
          <p:nvPr/>
        </p:nvPicPr>
        <p:blipFill>
          <a:blip r:embed="rId3"/>
          <a:stretch>
            <a:fillRect/>
          </a:stretch>
        </p:blipFill>
        <p:spPr>
          <a:xfrm>
            <a:off x="7473168" y="2050951"/>
            <a:ext cx="1141880" cy="287040"/>
          </a:xfrm>
          <a:prstGeom prst="rect">
            <a:avLst/>
          </a:prstGeom>
        </p:spPr>
      </p:pic>
      <p:sp>
        <p:nvSpPr>
          <p:cNvPr id="8" name="Text 5"/>
          <p:cNvSpPr/>
          <p:nvPr/>
        </p:nvSpPr>
        <p:spPr>
          <a:xfrm>
            <a:off x="457189" y="4351457"/>
            <a:ext cx="11734506" cy="297160"/>
          </a:xfrm>
          <a:prstGeom prst="rect">
            <a:avLst/>
          </a:prstGeom>
          <a:noFill/>
          <a:ln/>
        </p:spPr>
        <p:txBody>
          <a:bodyPr wrap="none" lIns="0" tIns="0" rIns="0" bIns="0" rtlCol="0" anchor="t"/>
          <a:lstStyle/>
          <a:p>
            <a:pPr marL="0" indent="0" algn="l">
              <a:lnSpc>
                <a:spcPct val="108000"/>
              </a:lnSpc>
              <a:buNone/>
            </a:pPr>
            <a:r>
              <a:rPr lang="en-US" sz="1800" b="1" dirty="0">
                <a:solidFill>
                  <a:srgbClr val="0A1540"/>
                </a:solidFill>
                <a:latin typeface="Host Grotesk Bold" pitchFamily="34" charset="0"/>
                <a:ea typeface="Host Grotesk Bold" pitchFamily="34" charset="-122"/>
                <a:cs typeface="Host Grotesk Bold" pitchFamily="34" charset="-120"/>
              </a:rPr>
              <a:t>Setup:</a:t>
            </a:r>
            <a:r>
              <a:rPr lang="en-US" sz="1800" dirty="0">
                <a:solidFill>
                  <a:srgbClr val="0A1540"/>
                </a:solidFill>
                <a:latin typeface="Host Grotesk" pitchFamily="34" charset="0"/>
                <a:ea typeface="Host Grotesk" pitchFamily="34" charset="-122"/>
                <a:cs typeface="Host Grotesk" pitchFamily="34" charset="-120"/>
              </a:rPr>
              <a:t> Both at k = 50, same training matrix, held-out purchases, best-seller baseline included.</a:t>
            </a:r>
            <a:endParaRPr lang="en-US" sz="1800" dirty="0"/>
          </a:p>
        </p:txBody>
      </p:sp>
      <p:sp>
        <p:nvSpPr>
          <p:cNvPr id="9" name="Shape 6"/>
          <p:cNvSpPr/>
          <p:nvPr/>
        </p:nvSpPr>
        <p:spPr>
          <a:xfrm>
            <a:off x="457189" y="4875312"/>
            <a:ext cx="11277318" cy="848320"/>
          </a:xfrm>
          <a:prstGeom prst="rect">
            <a:avLst/>
          </a:prstGeom>
          <a:solidFill>
            <a:srgbClr val="FFE83D"/>
          </a:solidFill>
          <a:ln/>
        </p:spPr>
      </p:sp>
      <p:sp>
        <p:nvSpPr>
          <p:cNvPr id="10" name="Text 7"/>
          <p:cNvSpPr/>
          <p:nvPr/>
        </p:nvSpPr>
        <p:spPr>
          <a:xfrm>
            <a:off x="685783" y="5004217"/>
            <a:ext cx="10820129" cy="594320"/>
          </a:xfrm>
          <a:prstGeom prst="rect">
            <a:avLst/>
          </a:prstGeom>
          <a:noFill/>
          <a:ln/>
        </p:spPr>
        <p:txBody>
          <a:bodyPr wrap="square" lIns="0" tIns="0" rIns="0" bIns="0" rtlCol="0" anchor="t">
            <a:normAutofit/>
          </a:bodyPr>
          <a:lstStyle/>
          <a:p>
            <a:pPr marL="0" indent="0" algn="l">
              <a:lnSpc>
                <a:spcPct val="108000"/>
              </a:lnSpc>
              <a:buNone/>
            </a:pPr>
            <a:r>
              <a:rPr lang="en-US" sz="1800" b="1" dirty="0">
                <a:solidFill>
                  <a:srgbClr val="000000"/>
                </a:solidFill>
                <a:latin typeface="Host Grotesk Bold" pitchFamily="34" charset="0"/>
                <a:ea typeface="Host Grotesk Bold" pitchFamily="34" charset="-122"/>
                <a:cs typeface="Host Grotesk Bold" pitchFamily="34" charset="-120"/>
              </a:rPr>
              <a:t>Decision:</a:t>
            </a:r>
            <a:r>
              <a:rPr lang="en-US" sz="1800" dirty="0">
                <a:solidFill>
                  <a:srgbClr val="000000"/>
                </a:solidFill>
                <a:latin typeface="Host Grotesk" pitchFamily="34" charset="0"/>
                <a:ea typeface="Host Grotesk" pitchFamily="34" charset="-122"/>
                <a:cs typeface="Host Grotesk" pitchFamily="34" charset="-120"/>
              </a:rPr>
              <a:t> Truncated SVD is the primary candidate because the matrix is highly sparse; PCA stays as a comparison.</a:t>
            </a:r>
            <a:endParaRPr lang="en-US" sz="1800" dirty="0"/>
          </a:p>
        </p:txBody>
      </p:sp>
      <p:sp>
        <p:nvSpPr>
          <p:cNvPr id="11" name="Shape 8"/>
          <p:cNvSpPr/>
          <p:nvPr/>
        </p:nvSpPr>
        <p:spPr>
          <a:xfrm>
            <a:off x="6086323" y="1193800"/>
            <a:ext cx="19050" cy="2927152"/>
          </a:xfrm>
          <a:prstGeom prst="rect">
            <a:avLst/>
          </a:prstGeom>
          <a:solidFill>
            <a:srgbClr val="0A1540"/>
          </a:solidFill>
          <a:ln/>
        </p:spPr>
      </p:sp>
      <p:sp>
        <p:nvSpPr>
          <p:cNvPr id="12" name="Rectangle 11">
            <a:extLst>
              <a:ext uri="{FF2B5EF4-FFF2-40B4-BE49-F238E27FC236}">
                <a16:creationId xmlns:a16="http://schemas.microsoft.com/office/drawing/2014/main" id="{92CE7DF8-FC7F-5898-525B-6F7909477A16}"/>
              </a:ext>
            </a:extLst>
          </p:cNvPr>
          <p:cNvSpPr/>
          <p:nvPr/>
        </p:nvSpPr>
        <p:spPr>
          <a:xfrm>
            <a:off x="10832841" y="6494106"/>
            <a:ext cx="1358854" cy="3638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Page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64956"/>
            <a:ext cx="11734506" cy="304800"/>
          </a:xfrm>
          <a:prstGeom prst="rect">
            <a:avLst/>
          </a:prstGeom>
          <a:noFill/>
          <a:ln/>
        </p:spPr>
        <p:txBody>
          <a:bodyPr wrap="none" lIns="0" tIns="0" rIns="0" bIns="0" rtlCol="0" anchor="t"/>
          <a:lstStyle/>
          <a:p>
            <a:pPr marL="0" indent="0" algn="l">
              <a:lnSpc>
                <a:spcPct val="100000"/>
              </a:lnSpc>
              <a:buNone/>
            </a:pPr>
            <a:r>
              <a:rPr lang="en-US" sz="2000" kern="100" spc="20" dirty="0">
                <a:solidFill>
                  <a:srgbClr val="0A1540"/>
                </a:solidFill>
                <a:latin typeface="Red Hat Mono SemiBold" pitchFamily="34" charset="0"/>
                <a:ea typeface="Red Hat Mono SemiBold" pitchFamily="34" charset="-122"/>
                <a:cs typeface="Red Hat Mono SemiBold" pitchFamily="34" charset="-120"/>
              </a:rPr>
              <a:t>EXPERIMENTAL BENCHMARKS</a:t>
            </a:r>
            <a:endParaRPr lang="en-US" sz="2000" dirty="0"/>
          </a:p>
        </p:txBody>
      </p:sp>
      <p:sp>
        <p:nvSpPr>
          <p:cNvPr id="3" name="Text 1"/>
          <p:cNvSpPr/>
          <p:nvPr/>
        </p:nvSpPr>
        <p:spPr>
          <a:xfrm>
            <a:off x="457189" y="895350"/>
            <a:ext cx="11277318" cy="482600"/>
          </a:xfrm>
          <a:prstGeom prst="rect">
            <a:avLst/>
          </a:prstGeom>
          <a:noFill/>
          <a:ln/>
        </p:spPr>
        <p:txBody>
          <a:bodyPr wrap="none" lIns="0" tIns="0" rIns="0" bIns="0" rtlCol="0" anchor="t"/>
          <a:lstStyle/>
          <a:p>
            <a:pPr marL="0" indent="0" algn="l">
              <a:lnSpc>
                <a:spcPct val="79000"/>
              </a:lnSpc>
              <a:buNone/>
            </a:pPr>
            <a:r>
              <a:rPr lang="en-US" sz="4000" dirty="0">
                <a:solidFill>
                  <a:srgbClr val="0A1540"/>
                </a:solidFill>
                <a:latin typeface="Sofia Sans Extra Condensed Black" pitchFamily="34" charset="0"/>
                <a:ea typeface="Sofia Sans Extra Condensed Black" pitchFamily="34" charset="-122"/>
                <a:cs typeface="Sofia Sans Extra Condensed Black" pitchFamily="34" charset="-120"/>
              </a:rPr>
              <a:t>MODEL PERFORMANCE AND COMPUTATIONAL MEASUREMENTS</a:t>
            </a:r>
            <a:endParaRPr lang="en-US" sz="4000" dirty="0"/>
          </a:p>
        </p:txBody>
      </p:sp>
      <p:pic>
        <p:nvPicPr>
          <p:cNvPr id="4" name="Image 0" descr="preencoded.png"/>
          <p:cNvPicPr>
            <a:picLocks noChangeAspect="1"/>
          </p:cNvPicPr>
          <p:nvPr/>
        </p:nvPicPr>
        <p:blipFill>
          <a:blip r:embed="rId3"/>
          <a:stretch>
            <a:fillRect/>
          </a:stretch>
        </p:blipFill>
        <p:spPr>
          <a:xfrm>
            <a:off x="457189" y="1503544"/>
            <a:ext cx="5410065" cy="4284563"/>
          </a:xfrm>
          <a:prstGeom prst="rect">
            <a:avLst/>
          </a:prstGeom>
        </p:spPr>
      </p:pic>
      <p:sp>
        <p:nvSpPr>
          <p:cNvPr id="5" name="Text 2"/>
          <p:cNvSpPr/>
          <p:nvPr/>
        </p:nvSpPr>
        <p:spPr>
          <a:xfrm>
            <a:off x="457188" y="5884466"/>
            <a:ext cx="5410065" cy="891480"/>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44507A"/>
                </a:solidFill>
                <a:latin typeface="Host Grotesk" pitchFamily="34" charset="0"/>
                <a:ea typeface="Host Grotesk" pitchFamily="34" charset="-122"/>
                <a:cs typeface="Host Grotesk" pitchFamily="34" charset="-120"/>
              </a:rPr>
              <a:t>Hit Rate@10: at least one actual purchase in the top 10 recommendations, across 1,913 eligible test customers.</a:t>
            </a:r>
            <a:endParaRPr lang="en-US" sz="1800" dirty="0"/>
          </a:p>
        </p:txBody>
      </p:sp>
      <p:sp>
        <p:nvSpPr>
          <p:cNvPr id="6" name="Text 3"/>
          <p:cNvSpPr/>
          <p:nvPr/>
        </p:nvSpPr>
        <p:spPr>
          <a:xfrm>
            <a:off x="6324442" y="1527345"/>
            <a:ext cx="5410065" cy="350441"/>
          </a:xfrm>
          <a:prstGeom prst="rect">
            <a:avLst/>
          </a:prstGeom>
          <a:noFill/>
          <a:ln/>
        </p:spPr>
        <p:txBody>
          <a:bodyPr wrap="none" lIns="0" tIns="0" rIns="0" bIns="0" rtlCol="0" anchor="t"/>
          <a:lstStyle/>
          <a:p>
            <a:pPr marL="0" indent="0" algn="l">
              <a:lnSpc>
                <a:spcPct val="96000"/>
              </a:lnSpc>
              <a:buNone/>
            </a:pPr>
            <a:r>
              <a:rPr lang="en-US" sz="2400" b="1" dirty="0">
                <a:solidFill>
                  <a:srgbClr val="0A1540"/>
                </a:solidFill>
                <a:latin typeface="Host Grotesk Bold" pitchFamily="34" charset="0"/>
                <a:ea typeface="Host Grotesk Bold" pitchFamily="34" charset="-122"/>
                <a:cs typeface="Host Grotesk Bold" pitchFamily="34" charset="-120"/>
              </a:rPr>
              <a:t>Results &amp; measurements</a:t>
            </a:r>
            <a:endParaRPr lang="en-US" sz="2400" dirty="0"/>
          </a:p>
        </p:txBody>
      </p:sp>
      <p:sp>
        <p:nvSpPr>
          <p:cNvPr id="7" name="Text 4"/>
          <p:cNvSpPr/>
          <p:nvPr/>
        </p:nvSpPr>
        <p:spPr>
          <a:xfrm>
            <a:off x="6324440" y="1877786"/>
            <a:ext cx="5410065" cy="3749675"/>
          </a:xfrm>
          <a:prstGeom prst="rect">
            <a:avLst/>
          </a:prstGeom>
          <a:noFill/>
          <a:ln/>
        </p:spPr>
        <p:txBody>
          <a:bodyPr wrap="square" lIns="0" tIns="0" rIns="0" bIns="0" rtlCol="0" anchor="t">
            <a:normAutofit/>
          </a:bodyPr>
          <a:lstStyle/>
          <a:p>
            <a:pPr marL="0" indent="0" algn="l">
              <a:lnSpc>
                <a:spcPct val="108000"/>
              </a:lnSpc>
              <a:spcAft>
                <a:spcPts val="1150"/>
              </a:spcAft>
              <a:buNone/>
            </a:pPr>
            <a:r>
              <a:rPr lang="en-US" sz="2000" b="1" dirty="0">
                <a:solidFill>
                  <a:srgbClr val="0A1540"/>
                </a:solidFill>
                <a:latin typeface="Host Grotesk Bold" pitchFamily="34" charset="0"/>
                <a:ea typeface="Host Grotesk Bold" pitchFamily="34" charset="-122"/>
                <a:cs typeface="Host Grotesk Bold" pitchFamily="34" charset="-120"/>
              </a:rPr>
              <a:t>Hit Rate@10:</a:t>
            </a:r>
            <a:r>
              <a:rPr lang="en-US" sz="2000" dirty="0">
                <a:solidFill>
                  <a:srgbClr val="0A1540"/>
                </a:solidFill>
                <a:latin typeface="Host Grotesk" pitchFamily="34" charset="0"/>
                <a:ea typeface="Host Grotesk" pitchFamily="34" charset="-122"/>
                <a:cs typeface="Host Grotesk" pitchFamily="34" charset="-120"/>
              </a:rPr>
              <a:t> Truncated SVD 20.02%; PCA 20.13%; best-seller baseline 19.29%. PCA is about 0.84 points above baseline, SVD about 0.73; the PCA/SVD gap is small.</a:t>
            </a:r>
            <a:endParaRPr lang="en-US" sz="2000" dirty="0"/>
          </a:p>
          <a:p>
            <a:pPr marL="0" indent="0" algn="l">
              <a:lnSpc>
                <a:spcPct val="108000"/>
              </a:lnSpc>
              <a:spcAft>
                <a:spcPts val="1150"/>
              </a:spcAft>
              <a:buNone/>
            </a:pPr>
            <a:r>
              <a:rPr lang="en-US" sz="2000" b="1" dirty="0">
                <a:solidFill>
                  <a:srgbClr val="0A1540"/>
                </a:solidFill>
                <a:latin typeface="Host Grotesk Bold" pitchFamily="34" charset="0"/>
                <a:ea typeface="Host Grotesk Bold" pitchFamily="34" charset="-122"/>
                <a:cs typeface="Host Grotesk Bold" pitchFamily="34" charset="-120"/>
              </a:rPr>
              <a:t>Fit time:</a:t>
            </a:r>
            <a:r>
              <a:rPr lang="en-US" sz="2000" dirty="0">
                <a:solidFill>
                  <a:srgbClr val="0A1540"/>
                </a:solidFill>
                <a:latin typeface="Host Grotesk" pitchFamily="34" charset="0"/>
                <a:ea typeface="Host Grotesk" pitchFamily="34" charset="-122"/>
                <a:cs typeface="Host Grotesk" pitchFamily="34" charset="-120"/>
              </a:rPr>
              <a:t> SVD 0.163 s; PCA 0.838 s.</a:t>
            </a:r>
            <a:endParaRPr lang="en-US" sz="2000" dirty="0"/>
          </a:p>
          <a:p>
            <a:pPr marL="0" indent="0" algn="l">
              <a:lnSpc>
                <a:spcPct val="108000"/>
              </a:lnSpc>
              <a:spcAft>
                <a:spcPts val="1150"/>
              </a:spcAft>
              <a:buNone/>
            </a:pPr>
            <a:r>
              <a:rPr lang="en-US" sz="2000" b="1" dirty="0">
                <a:solidFill>
                  <a:srgbClr val="0A1540"/>
                </a:solidFill>
                <a:latin typeface="Host Grotesk Bold" pitchFamily="34" charset="0"/>
                <a:ea typeface="Host Grotesk Bold" pitchFamily="34" charset="-122"/>
                <a:cs typeface="Host Grotesk Bold" pitchFamily="34" charset="-120"/>
              </a:rPr>
              <a:t>Peak Python-traced memory:</a:t>
            </a:r>
            <a:r>
              <a:rPr lang="en-US" sz="2000" dirty="0">
                <a:solidFill>
                  <a:srgbClr val="0A1540"/>
                </a:solidFill>
                <a:latin typeface="Host Grotesk" pitchFamily="34" charset="0"/>
                <a:ea typeface="Host Grotesk" pitchFamily="34" charset="-122"/>
                <a:cs typeface="Host Grotesk" pitchFamily="34" charset="-120"/>
              </a:rPr>
              <a:t> SVD 4.89 MB; PCA 4.51 MB. </a:t>
            </a:r>
            <a:r>
              <a:rPr lang="en-US" sz="2000" b="1" dirty="0">
                <a:solidFill>
                  <a:srgbClr val="0A1540"/>
                </a:solidFill>
                <a:latin typeface="Host Grotesk Bold" pitchFamily="34" charset="0"/>
                <a:ea typeface="Host Grotesk Bold" pitchFamily="34" charset="-122"/>
                <a:cs typeface="Host Grotesk Bold" pitchFamily="34" charset="-120"/>
              </a:rPr>
              <a:t>Stored factors:</a:t>
            </a:r>
            <a:r>
              <a:rPr lang="en-US" sz="2000" dirty="0">
                <a:solidFill>
                  <a:srgbClr val="0A1540"/>
                </a:solidFill>
                <a:latin typeface="Host Grotesk" pitchFamily="34" charset="0"/>
                <a:ea typeface="Host Grotesk" pitchFamily="34" charset="-122"/>
                <a:cs typeface="Host Grotesk" pitchFamily="34" charset="-120"/>
              </a:rPr>
              <a:t> 1.832 MB each.</a:t>
            </a:r>
            <a:endParaRPr lang="en-US" sz="2000" dirty="0"/>
          </a:p>
          <a:p>
            <a:pPr marL="0" indent="0" algn="l">
              <a:lnSpc>
                <a:spcPct val="108000"/>
              </a:lnSpc>
              <a:buNone/>
            </a:pPr>
            <a:r>
              <a:rPr lang="en-US" sz="2000" b="1" dirty="0">
                <a:solidFill>
                  <a:srgbClr val="0A1540"/>
                </a:solidFill>
                <a:latin typeface="Host Grotesk Bold" pitchFamily="34" charset="0"/>
                <a:ea typeface="Host Grotesk Bold" pitchFamily="34" charset="-122"/>
                <a:cs typeface="Host Grotesk Bold" pitchFamily="34" charset="-120"/>
              </a:rPr>
              <a:t>PCA variance explained:</a:t>
            </a:r>
            <a:r>
              <a:rPr lang="en-US" sz="2000" dirty="0">
                <a:solidFill>
                  <a:srgbClr val="0A1540"/>
                </a:solidFill>
                <a:latin typeface="Host Grotesk" pitchFamily="34" charset="0"/>
                <a:ea typeface="Host Grotesk" pitchFamily="34" charset="-122"/>
                <a:cs typeface="Host Grotesk" pitchFamily="34" charset="-120"/>
              </a:rPr>
              <a:t> 65.056%. </a:t>
            </a:r>
            <a:r>
              <a:rPr lang="en-US" sz="2000" b="1" dirty="0">
                <a:solidFill>
                  <a:srgbClr val="0A1540"/>
                </a:solidFill>
                <a:latin typeface="Host Grotesk Bold" pitchFamily="34" charset="0"/>
                <a:ea typeface="Host Grotesk Bold" pitchFamily="34" charset="-122"/>
                <a:cs typeface="Host Grotesk Bold" pitchFamily="34" charset="-120"/>
              </a:rPr>
              <a:t>SVD relative reconstruction error estimate:</a:t>
            </a:r>
            <a:r>
              <a:rPr lang="en-US" sz="2000" dirty="0">
                <a:solidFill>
                  <a:srgbClr val="0A1540"/>
                </a:solidFill>
                <a:latin typeface="Host Grotesk" pitchFamily="34" charset="0"/>
                <a:ea typeface="Host Grotesk" pitchFamily="34" charset="-122"/>
                <a:cs typeface="Host Grotesk" pitchFamily="34" charset="-120"/>
              </a:rPr>
              <a:t> 0.58405.</a:t>
            </a:r>
            <a:endParaRPr lang="en-US" sz="2000" dirty="0"/>
          </a:p>
        </p:txBody>
      </p:sp>
      <p:sp>
        <p:nvSpPr>
          <p:cNvPr id="8" name="Text 5"/>
          <p:cNvSpPr/>
          <p:nvPr/>
        </p:nvSpPr>
        <p:spPr>
          <a:xfrm>
            <a:off x="6324441" y="5669359"/>
            <a:ext cx="5410065" cy="1188641"/>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44507A"/>
                </a:solidFill>
                <a:latin typeface="Host Grotesk" pitchFamily="34" charset="0"/>
                <a:ea typeface="Host Grotesk" pitchFamily="34" charset="-122"/>
                <a:cs typeface="Host Grotesk" pitchFamily="34" charset="-120"/>
              </a:rPr>
              <a:t>Caveats: memory via tracemalloc may miss native allocations; reconstruction error is an estimate; results are from this run and not proof of production readiness.</a:t>
            </a:r>
            <a:endParaRPr lang="en-US" sz="1800" dirty="0"/>
          </a:p>
        </p:txBody>
      </p:sp>
      <p:sp>
        <p:nvSpPr>
          <p:cNvPr id="10" name="Rectangle 9">
            <a:extLst>
              <a:ext uri="{FF2B5EF4-FFF2-40B4-BE49-F238E27FC236}">
                <a16:creationId xmlns:a16="http://schemas.microsoft.com/office/drawing/2014/main" id="{4E40C53B-74C1-D653-38DC-127388C94FC6}"/>
              </a:ext>
            </a:extLst>
          </p:cNvPr>
          <p:cNvSpPr/>
          <p:nvPr/>
        </p:nvSpPr>
        <p:spPr>
          <a:xfrm>
            <a:off x="10832841" y="6494106"/>
            <a:ext cx="1358854" cy="3638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Page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64956"/>
            <a:ext cx="11734506" cy="304800"/>
          </a:xfrm>
          <a:prstGeom prst="rect">
            <a:avLst/>
          </a:prstGeom>
          <a:noFill/>
          <a:ln/>
        </p:spPr>
        <p:txBody>
          <a:bodyPr wrap="none" lIns="0" tIns="0" rIns="0" bIns="0" rtlCol="0" anchor="t"/>
          <a:lstStyle/>
          <a:p>
            <a:pPr marL="0" indent="0" algn="l">
              <a:lnSpc>
                <a:spcPct val="100000"/>
              </a:lnSpc>
              <a:buNone/>
            </a:pPr>
            <a:r>
              <a:rPr lang="en-US" sz="2000" kern="100" spc="20" dirty="0">
                <a:solidFill>
                  <a:srgbClr val="0A1540"/>
                </a:solidFill>
                <a:latin typeface="Red Hat Mono SemiBold" pitchFamily="34" charset="0"/>
                <a:ea typeface="Red Hat Mono SemiBold" pitchFamily="34" charset="-122"/>
                <a:cs typeface="Red Hat Mono SemiBold" pitchFamily="34" charset="-120"/>
              </a:rPr>
              <a:t>CUSTOMER INSIGHTS</a:t>
            </a:r>
            <a:endParaRPr lang="en-US" sz="2000" dirty="0"/>
          </a:p>
        </p:txBody>
      </p:sp>
      <p:sp>
        <p:nvSpPr>
          <p:cNvPr id="3" name="Text 1"/>
          <p:cNvSpPr/>
          <p:nvPr/>
        </p:nvSpPr>
        <p:spPr>
          <a:xfrm>
            <a:off x="457189" y="895350"/>
            <a:ext cx="11277318" cy="482600"/>
          </a:xfrm>
          <a:prstGeom prst="rect">
            <a:avLst/>
          </a:prstGeom>
          <a:noFill/>
          <a:ln/>
        </p:spPr>
        <p:txBody>
          <a:bodyPr wrap="none" lIns="0" tIns="0" rIns="0" bIns="0" rtlCol="0" anchor="t"/>
          <a:lstStyle/>
          <a:p>
            <a:pPr marL="0" indent="0" algn="l">
              <a:lnSpc>
                <a:spcPct val="79000"/>
              </a:lnSpc>
              <a:buNone/>
            </a:pPr>
            <a:r>
              <a:rPr lang="en-US" sz="4000" dirty="0">
                <a:solidFill>
                  <a:srgbClr val="0A1540"/>
                </a:solidFill>
                <a:latin typeface="Sofia Sans Extra Condensed Black" pitchFamily="34" charset="0"/>
                <a:ea typeface="Sofia Sans Extra Condensed Black" pitchFamily="34" charset="-122"/>
                <a:cs typeface="Sofia Sans Extra Condensed Black" pitchFamily="34" charset="-120"/>
              </a:rPr>
              <a:t>FOUR CUSTOMER SEGMENTS FOR MARKETING</a:t>
            </a:r>
            <a:endParaRPr lang="en-US" sz="4000" dirty="0"/>
          </a:p>
        </p:txBody>
      </p:sp>
      <p:pic>
        <p:nvPicPr>
          <p:cNvPr id="4" name="Image 0" descr="preencoded.png"/>
          <p:cNvPicPr>
            <a:picLocks noChangeAspect="1"/>
          </p:cNvPicPr>
          <p:nvPr/>
        </p:nvPicPr>
        <p:blipFill>
          <a:blip r:embed="rId3"/>
          <a:stretch>
            <a:fillRect/>
          </a:stretch>
        </p:blipFill>
        <p:spPr>
          <a:xfrm>
            <a:off x="457188" y="1844642"/>
            <a:ext cx="4189457" cy="3634611"/>
          </a:xfrm>
          <a:prstGeom prst="rect">
            <a:avLst/>
          </a:prstGeom>
        </p:spPr>
      </p:pic>
      <p:sp>
        <p:nvSpPr>
          <p:cNvPr id="5" name="Text 2"/>
          <p:cNvSpPr/>
          <p:nvPr/>
        </p:nvSpPr>
        <p:spPr>
          <a:xfrm>
            <a:off x="643802" y="5594212"/>
            <a:ext cx="4478703" cy="959928"/>
          </a:xfrm>
          <a:prstGeom prst="rect">
            <a:avLst/>
          </a:prstGeom>
          <a:noFill/>
          <a:ln/>
        </p:spPr>
        <p:txBody>
          <a:bodyPr wrap="square" lIns="0" tIns="0" rIns="0" bIns="0" rtlCol="0" anchor="t">
            <a:normAutofit fontScale="92500" lnSpcReduction="20000"/>
          </a:bodyPr>
          <a:lstStyle/>
          <a:p>
            <a:pPr marL="0" indent="0" algn="l">
              <a:lnSpc>
                <a:spcPct val="108000"/>
              </a:lnSpc>
              <a:buNone/>
            </a:pPr>
            <a:r>
              <a:rPr lang="en-US" sz="1800" dirty="0">
                <a:solidFill>
                  <a:srgbClr val="44507A"/>
                </a:solidFill>
                <a:latin typeface="Host Grotesk" pitchFamily="34" charset="0"/>
                <a:ea typeface="Host Grotesk" pitchFamily="34" charset="-122"/>
                <a:cs typeface="Host Grotesk" pitchFamily="34" charset="-120"/>
              </a:rPr>
              <a:t>2-component SVD projection for visualization; normalized </a:t>
            </a:r>
            <a:r>
              <a:rPr lang="en-US" sz="1100" dirty="0">
                <a:solidFill>
                  <a:srgbClr val="44507A"/>
                </a:solidFill>
                <a:latin typeface="Host Grotesk" pitchFamily="34" charset="0"/>
                <a:ea typeface="Host Grotesk" pitchFamily="34" charset="-122"/>
                <a:cs typeface="Host Grotesk" pitchFamily="34" charset="-120"/>
              </a:rPr>
              <a:t>50-component</a:t>
            </a:r>
            <a:r>
              <a:rPr lang="en-US" sz="1800" dirty="0">
                <a:solidFill>
                  <a:srgbClr val="44507A"/>
                </a:solidFill>
                <a:latin typeface="Host Grotesk" pitchFamily="34" charset="0"/>
                <a:ea typeface="Host Grotesk" pitchFamily="34" charset="-122"/>
                <a:cs typeface="Host Grotesk" pitchFamily="34" charset="-120"/>
              </a:rPr>
              <a:t> vectors clustered with </a:t>
            </a:r>
            <a:r>
              <a:rPr lang="en-US" sz="1000" dirty="0">
                <a:solidFill>
                  <a:srgbClr val="44507A"/>
                </a:solidFill>
                <a:latin typeface="Host Grotesk" pitchFamily="34" charset="0"/>
                <a:ea typeface="Host Grotesk" pitchFamily="34" charset="-122"/>
                <a:cs typeface="Host Grotesk" pitchFamily="34" charset="-120"/>
              </a:rPr>
              <a:t>K-means</a:t>
            </a:r>
            <a:r>
              <a:rPr lang="en-US" sz="1800" dirty="0">
                <a:solidFill>
                  <a:srgbClr val="44507A"/>
                </a:solidFill>
                <a:latin typeface="Host Grotesk" pitchFamily="34" charset="0"/>
                <a:ea typeface="Host Grotesk" pitchFamily="34" charset="-122"/>
                <a:cs typeface="Host Grotesk" pitchFamily="34" charset="-120"/>
              </a:rPr>
              <a:t> into four active clusters.;;</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552492346"/>
              </p:ext>
            </p:extLst>
          </p:nvPr>
        </p:nvGraphicFramePr>
        <p:xfrm>
          <a:off x="6298162" y="1600200"/>
          <a:ext cx="4795935" cy="3587619"/>
        </p:xfrm>
        <a:graphic>
          <a:graphicData uri="http://schemas.openxmlformats.org/drawingml/2006/table">
            <a:tbl>
              <a:tblPr/>
              <a:tblGrid>
                <a:gridCol w="1822449">
                  <a:extLst>
                    <a:ext uri="{9D8B030D-6E8A-4147-A177-3AD203B41FA5}">
                      <a16:colId xmlns:a16="http://schemas.microsoft.com/office/drawing/2014/main" val="20000"/>
                    </a:ext>
                  </a:extLst>
                </a:gridCol>
                <a:gridCol w="2973486">
                  <a:extLst>
                    <a:ext uri="{9D8B030D-6E8A-4147-A177-3AD203B41FA5}">
                      <a16:colId xmlns:a16="http://schemas.microsoft.com/office/drawing/2014/main" val="20001"/>
                    </a:ext>
                  </a:extLst>
                </a:gridCol>
              </a:tblGrid>
              <a:tr h="521834">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Segment · customers</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Leading products</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0"/>
                  </a:ext>
                </a:extLst>
              </a:tr>
              <a:tr h="717524">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Retail Mix Segment 1 · 1,679</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World War 2 Gliders; cake cases</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1"/>
                  </a:ext>
                </a:extLst>
              </a:tr>
              <a:tr h="913213">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Candle &amp; Homeware Buyers · 835</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White Hanging Heart T-Light Holder; Bird Ornament; Heart of Wicker Small</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2"/>
                  </a:ext>
                </a:extLst>
              </a:tr>
              <a:tr h="717524">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Retail Mix Segment 3 · 2,173</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Ceramic Top Storage Jar; Paisley Flower Mug</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C9D3F2"/>
                      </a:solidFill>
                      <a:prstDash val="solid"/>
                      <a:round/>
                      <a:headEnd type="none" w="med" len="med"/>
                      <a:tailEnd type="none" w="med" len="med"/>
                    </a:lnB>
                  </a:tcPr>
                </a:tc>
                <a:extLst>
                  <a:ext uri="{0D108BD9-81ED-4DB2-BD59-A6C34878D82A}">
                    <a16:rowId xmlns:a16="http://schemas.microsoft.com/office/drawing/2014/main" val="10003"/>
                  </a:ext>
                </a:extLst>
              </a:tr>
              <a:tr h="717524">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Bag &amp; Packaging Buyers · 786</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000" dirty="0">
                          <a:solidFill>
                            <a:srgbClr val="0A1540"/>
                          </a:solidFill>
                          <a:latin typeface="Host Grotesk" pitchFamily="34" charset="0"/>
                          <a:ea typeface="Host Grotesk" pitchFamily="34" charset="-122"/>
                          <a:cs typeface="Host Grotesk" pitchFamily="34" charset="-120"/>
                        </a:rPr>
                        <a:t>Jumbo Bag Red Retrospot; Jumbo Bag Strawberry; Brocade Ring Purse</a:t>
                      </a:r>
                      <a:endParaRPr lang="en-US" sz="1000" dirty="0">
                        <a:latin typeface="Host Grotesk" charset="0"/>
                        <a:ea typeface="Host Grotesk" charset="0"/>
                        <a:cs typeface="Host Grotesk" charset="0"/>
                      </a:endParaRPr>
                    </a:p>
                  </a:txBody>
                  <a:tcPr marL="190495" marR="190495" marT="101598" marB="1015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9D3F2"/>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p:nvPr/>
        </p:nvSpPr>
        <p:spPr>
          <a:xfrm>
            <a:off x="6095999" y="5472792"/>
            <a:ext cx="6095695" cy="979716"/>
          </a:xfrm>
          <a:prstGeom prst="rect">
            <a:avLst/>
          </a:prstGeom>
          <a:noFill/>
          <a:ln/>
        </p:spPr>
        <p:txBody>
          <a:bodyPr wrap="square" lIns="0" tIns="0" rIns="0" bIns="0" rtlCol="0" anchor="t">
            <a:normAutofit fontScale="70000" lnSpcReduction="20000"/>
          </a:bodyPr>
          <a:lstStyle/>
          <a:p>
            <a:pPr marL="0" indent="0" algn="l">
              <a:lnSpc>
                <a:spcPct val="108000"/>
              </a:lnSpc>
              <a:spcAft>
                <a:spcPts val="1150"/>
              </a:spcAft>
              <a:buNone/>
            </a:pPr>
            <a:r>
              <a:rPr lang="en-US" sz="2000" dirty="0">
                <a:solidFill>
                  <a:srgbClr val="0A1540"/>
                </a:solidFill>
                <a:latin typeface="Host Grotesk" pitchFamily="34" charset="0"/>
                <a:ea typeface="Host Grotesk" pitchFamily="34" charset="-122"/>
                <a:cs typeface="Host Grotesk" pitchFamily="34" charset="-120"/>
              </a:rPr>
              <a:t>Uses: bundles, personalized recommendations, campaign themes, exploratory experiments.</a:t>
            </a:r>
            <a:endParaRPr lang="en-US" sz="2000" dirty="0"/>
          </a:p>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Limitation: statistical groupings; names summarize leading products and need marketing validation.</a:t>
            </a:r>
            <a:endParaRPr lang="en-US" sz="2000" dirty="0"/>
          </a:p>
        </p:txBody>
      </p:sp>
      <p:sp>
        <p:nvSpPr>
          <p:cNvPr id="9" name="Rectangle 8">
            <a:extLst>
              <a:ext uri="{FF2B5EF4-FFF2-40B4-BE49-F238E27FC236}">
                <a16:creationId xmlns:a16="http://schemas.microsoft.com/office/drawing/2014/main" id="{3D98B1BF-E4C1-0D2A-7F5D-465A88F23905}"/>
              </a:ext>
            </a:extLst>
          </p:cNvPr>
          <p:cNvSpPr/>
          <p:nvPr/>
        </p:nvSpPr>
        <p:spPr>
          <a:xfrm>
            <a:off x="10832841" y="6494106"/>
            <a:ext cx="1358854" cy="3638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Page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88950"/>
            <a:ext cx="11277318" cy="482600"/>
          </a:xfrm>
          <a:prstGeom prst="rect">
            <a:avLst/>
          </a:prstGeom>
          <a:noFill/>
          <a:ln/>
        </p:spPr>
        <p:txBody>
          <a:bodyPr wrap="none" lIns="0" tIns="0" rIns="0" bIns="0" rtlCol="0" anchor="t"/>
          <a:lstStyle/>
          <a:p>
            <a:pPr marL="0" indent="0" algn="l">
              <a:lnSpc>
                <a:spcPct val="79000"/>
              </a:lnSpc>
              <a:buNone/>
            </a:pPr>
            <a:r>
              <a:rPr lang="en-US" sz="4000" dirty="0">
                <a:solidFill>
                  <a:srgbClr val="0A1540"/>
                </a:solidFill>
                <a:latin typeface="Sofia Sans Extra Condensed Black" pitchFamily="34" charset="0"/>
                <a:ea typeface="Sofia Sans Extra Condensed Black" pitchFamily="34" charset="-122"/>
                <a:cs typeface="Sofia Sans Extra Condensed Black" pitchFamily="34" charset="-120"/>
              </a:rPr>
              <a:t>WHAT THE RESULTS TELL US, AND WHAT STILL NEEDS TESTING</a:t>
            </a:r>
            <a:endParaRPr lang="en-US" sz="4000" dirty="0"/>
          </a:p>
        </p:txBody>
      </p:sp>
      <p:sp>
        <p:nvSpPr>
          <p:cNvPr id="3" name="Text 1"/>
          <p:cNvSpPr/>
          <p:nvPr/>
        </p:nvSpPr>
        <p:spPr>
          <a:xfrm>
            <a:off x="457189" y="1305055"/>
            <a:ext cx="5410065" cy="350441"/>
          </a:xfrm>
          <a:prstGeom prst="rect">
            <a:avLst/>
          </a:prstGeom>
          <a:noFill/>
          <a:ln/>
        </p:spPr>
        <p:txBody>
          <a:bodyPr wrap="none" lIns="0" tIns="0" rIns="0" bIns="0" rtlCol="0" anchor="t"/>
          <a:lstStyle/>
          <a:p>
            <a:pPr marL="0" indent="0" algn="l">
              <a:lnSpc>
                <a:spcPct val="96000"/>
              </a:lnSpc>
              <a:buNone/>
            </a:pPr>
            <a:r>
              <a:rPr lang="en-US" sz="2400" b="1" dirty="0">
                <a:solidFill>
                  <a:srgbClr val="0A1540"/>
                </a:solidFill>
                <a:latin typeface="Host Grotesk Bold" pitchFamily="34" charset="0"/>
                <a:ea typeface="Host Grotesk Bold" pitchFamily="34" charset="-122"/>
                <a:cs typeface="Host Grotesk Bold" pitchFamily="34" charset="-120"/>
              </a:rPr>
              <a:t>What we learned</a:t>
            </a:r>
            <a:endParaRPr lang="en-US" sz="2400" dirty="0"/>
          </a:p>
        </p:txBody>
      </p:sp>
      <p:sp>
        <p:nvSpPr>
          <p:cNvPr id="4" name="Text 2"/>
          <p:cNvSpPr/>
          <p:nvPr/>
        </p:nvSpPr>
        <p:spPr>
          <a:xfrm>
            <a:off x="457189" y="1830983"/>
            <a:ext cx="5410065" cy="16510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Automated cleaning and time-based split; sparse matrix built; PCA and SVD compared at 50 components against a best-seller baseline; segmentation summaries; reproducible scripts.</a:t>
            </a:r>
            <a:endParaRPr lang="en-US" sz="2000" dirty="0"/>
          </a:p>
        </p:txBody>
      </p:sp>
      <p:sp>
        <p:nvSpPr>
          <p:cNvPr id="5" name="Text 3"/>
          <p:cNvSpPr/>
          <p:nvPr/>
        </p:nvSpPr>
        <p:spPr>
          <a:xfrm>
            <a:off x="6324442" y="1305055"/>
            <a:ext cx="5410065" cy="350441"/>
          </a:xfrm>
          <a:prstGeom prst="rect">
            <a:avLst/>
          </a:prstGeom>
          <a:noFill/>
          <a:ln/>
        </p:spPr>
        <p:txBody>
          <a:bodyPr wrap="none" lIns="0" tIns="0" rIns="0" bIns="0" rtlCol="0" anchor="t"/>
          <a:lstStyle/>
          <a:p>
            <a:pPr marL="0" indent="0" algn="l">
              <a:lnSpc>
                <a:spcPct val="96000"/>
              </a:lnSpc>
              <a:buNone/>
            </a:pPr>
            <a:r>
              <a:rPr lang="en-US" sz="2400" b="1" dirty="0">
                <a:solidFill>
                  <a:srgbClr val="0A1540"/>
                </a:solidFill>
                <a:latin typeface="Host Grotesk Bold" pitchFamily="34" charset="0"/>
                <a:ea typeface="Host Grotesk Bold" pitchFamily="34" charset="-122"/>
                <a:cs typeface="Host Grotesk Bold" pitchFamily="34" charset="-120"/>
              </a:rPr>
              <a:t>What we must validate</a:t>
            </a:r>
            <a:endParaRPr lang="en-US" sz="2400" dirty="0"/>
          </a:p>
        </p:txBody>
      </p:sp>
      <p:sp>
        <p:nvSpPr>
          <p:cNvPr id="6" name="Text 4"/>
          <p:cNvSpPr/>
          <p:nvPr/>
        </p:nvSpPr>
        <p:spPr>
          <a:xfrm>
            <a:off x="6324442" y="1830983"/>
            <a:ext cx="5410065" cy="16510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Modest gain over baseline; information lost in compression; other time windows; full-process memory; segment stability; cold-start customers and products; raw vs binary vs log-transformed purchase values.</a:t>
            </a:r>
            <a:endParaRPr lang="en-US" sz="2000" dirty="0"/>
          </a:p>
        </p:txBody>
      </p:sp>
      <p:sp>
        <p:nvSpPr>
          <p:cNvPr id="7" name="Text 5"/>
          <p:cNvSpPr/>
          <p:nvPr/>
        </p:nvSpPr>
        <p:spPr>
          <a:xfrm>
            <a:off x="457189" y="4632455"/>
            <a:ext cx="5410065" cy="350441"/>
          </a:xfrm>
          <a:prstGeom prst="rect">
            <a:avLst/>
          </a:prstGeom>
          <a:noFill/>
          <a:ln/>
        </p:spPr>
        <p:txBody>
          <a:bodyPr wrap="none" lIns="0" tIns="0" rIns="0" bIns="0" rtlCol="0" anchor="t"/>
          <a:lstStyle/>
          <a:p>
            <a:pPr marL="0" indent="0" algn="l">
              <a:lnSpc>
                <a:spcPct val="96000"/>
              </a:lnSpc>
              <a:buNone/>
            </a:pPr>
            <a:r>
              <a:rPr lang="en-US" sz="2400" b="1" dirty="0">
                <a:solidFill>
                  <a:srgbClr val="0A1540"/>
                </a:solidFill>
                <a:latin typeface="Host Grotesk Bold" pitchFamily="34" charset="0"/>
                <a:ea typeface="Host Grotesk Bold" pitchFamily="34" charset="-122"/>
                <a:cs typeface="Host Grotesk Bold" pitchFamily="34" charset="-120"/>
              </a:rPr>
              <a:t>Roadmap</a:t>
            </a:r>
            <a:endParaRPr lang="en-US" sz="2400" dirty="0"/>
          </a:p>
        </p:txBody>
      </p:sp>
      <p:sp>
        <p:nvSpPr>
          <p:cNvPr id="8" name="Text 6"/>
          <p:cNvSpPr/>
          <p:nvPr/>
        </p:nvSpPr>
        <p:spPr>
          <a:xfrm>
            <a:off x="457189" y="5158383"/>
            <a:ext cx="5410065" cy="6604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Experimentation → validation → stakeholder review → possible deployment</a:t>
            </a:r>
            <a:endParaRPr lang="en-US" sz="2000" dirty="0"/>
          </a:p>
        </p:txBody>
      </p:sp>
      <p:sp>
        <p:nvSpPr>
          <p:cNvPr id="9" name="Text 7"/>
          <p:cNvSpPr/>
          <p:nvPr/>
        </p:nvSpPr>
        <p:spPr>
          <a:xfrm>
            <a:off x="6324442" y="4302255"/>
            <a:ext cx="5410065" cy="350441"/>
          </a:xfrm>
          <a:prstGeom prst="rect">
            <a:avLst/>
          </a:prstGeom>
          <a:noFill/>
          <a:ln/>
        </p:spPr>
        <p:txBody>
          <a:bodyPr wrap="none" lIns="0" tIns="0" rIns="0" bIns="0" rtlCol="0" anchor="t"/>
          <a:lstStyle/>
          <a:p>
            <a:pPr marL="0" indent="0" algn="l">
              <a:lnSpc>
                <a:spcPct val="96000"/>
              </a:lnSpc>
              <a:buNone/>
            </a:pPr>
            <a:r>
              <a:rPr lang="en-US" sz="2400" b="1" dirty="0">
                <a:solidFill>
                  <a:srgbClr val="0A1540"/>
                </a:solidFill>
                <a:latin typeface="Host Grotesk Bold" pitchFamily="34" charset="0"/>
                <a:ea typeface="Host Grotesk Bold" pitchFamily="34" charset="-122"/>
                <a:cs typeface="Host Grotesk Bold" pitchFamily="34" charset="-120"/>
              </a:rPr>
              <a:t>Next steps</a:t>
            </a:r>
            <a:endParaRPr lang="en-US" sz="2400" dirty="0"/>
          </a:p>
        </p:txBody>
      </p:sp>
      <p:sp>
        <p:nvSpPr>
          <p:cNvPr id="10" name="Text 8"/>
          <p:cNvSpPr/>
          <p:nvPr/>
        </p:nvSpPr>
        <p:spPr>
          <a:xfrm>
            <a:off x="6324442" y="4828183"/>
            <a:ext cx="5410065" cy="1320800"/>
          </a:xfrm>
          <a:prstGeom prst="rect">
            <a:avLst/>
          </a:prstGeom>
          <a:noFill/>
          <a:ln/>
        </p:spPr>
        <p:txBody>
          <a:bodyPr wrap="square" lIns="0" tIns="0" rIns="0" bIns="0" rtlCol="0" anchor="t">
            <a:normAutofit/>
          </a:bodyPr>
          <a:lstStyle/>
          <a:p>
            <a:pPr marL="0" indent="0" algn="l">
              <a:lnSpc>
                <a:spcPct val="108000"/>
              </a:lnSpc>
              <a:buNone/>
            </a:pPr>
            <a:r>
              <a:rPr lang="en-US" sz="2000" dirty="0">
                <a:solidFill>
                  <a:srgbClr val="0A1540"/>
                </a:solidFill>
                <a:latin typeface="Host Grotesk" pitchFamily="34" charset="0"/>
                <a:ea typeface="Host Grotesk" pitchFamily="34" charset="-122"/>
                <a:cs typeface="Host Grotesk" pitchFamily="34" charset="-120"/>
              </a:rPr>
              <a:t>Multiple chronological holdouts; alternative value representations; other component counts; full runtime and memory; review segments with marketing.</a:t>
            </a:r>
            <a:endParaRPr lang="en-US" sz="2000" dirty="0"/>
          </a:p>
        </p:txBody>
      </p:sp>
      <p:sp>
        <p:nvSpPr>
          <p:cNvPr id="11" name="Shape 9"/>
          <p:cNvSpPr/>
          <p:nvPr/>
        </p:nvSpPr>
        <p:spPr>
          <a:xfrm>
            <a:off x="6089498" y="1193800"/>
            <a:ext cx="12700" cy="2603500"/>
          </a:xfrm>
          <a:prstGeom prst="rect">
            <a:avLst/>
          </a:prstGeom>
          <a:solidFill>
            <a:srgbClr val="C9D3F2"/>
          </a:solidFill>
          <a:ln/>
        </p:spPr>
      </p:sp>
      <p:sp>
        <p:nvSpPr>
          <p:cNvPr id="12" name="Shape 10"/>
          <p:cNvSpPr/>
          <p:nvPr/>
        </p:nvSpPr>
        <p:spPr>
          <a:xfrm>
            <a:off x="457189" y="3790950"/>
            <a:ext cx="5638659" cy="12700"/>
          </a:xfrm>
          <a:prstGeom prst="rect">
            <a:avLst/>
          </a:prstGeom>
          <a:solidFill>
            <a:srgbClr val="C9D3F2"/>
          </a:solidFill>
          <a:ln/>
        </p:spPr>
      </p:sp>
      <p:sp>
        <p:nvSpPr>
          <p:cNvPr id="13" name="Shape 11"/>
          <p:cNvSpPr/>
          <p:nvPr/>
        </p:nvSpPr>
        <p:spPr>
          <a:xfrm>
            <a:off x="6089498" y="3797300"/>
            <a:ext cx="12700" cy="2603500"/>
          </a:xfrm>
          <a:prstGeom prst="rect">
            <a:avLst/>
          </a:prstGeom>
          <a:solidFill>
            <a:srgbClr val="C9D3F2"/>
          </a:solidFill>
          <a:ln/>
        </p:spPr>
      </p:sp>
      <p:sp>
        <p:nvSpPr>
          <p:cNvPr id="14" name="Shape 12"/>
          <p:cNvSpPr/>
          <p:nvPr/>
        </p:nvSpPr>
        <p:spPr>
          <a:xfrm>
            <a:off x="6095848" y="3790950"/>
            <a:ext cx="5638659" cy="12700"/>
          </a:xfrm>
          <a:prstGeom prst="rect">
            <a:avLst/>
          </a:prstGeom>
          <a:solidFill>
            <a:srgbClr val="C9D3F2"/>
          </a:solidFill>
          <a:ln/>
        </p:spPr>
      </p:sp>
      <p:sp>
        <p:nvSpPr>
          <p:cNvPr id="16" name="Rectangle 15">
            <a:extLst>
              <a:ext uri="{FF2B5EF4-FFF2-40B4-BE49-F238E27FC236}">
                <a16:creationId xmlns:a16="http://schemas.microsoft.com/office/drawing/2014/main" id="{1699AC39-5594-AFED-E024-B4B90129A064}"/>
              </a:ext>
            </a:extLst>
          </p:cNvPr>
          <p:cNvSpPr/>
          <p:nvPr/>
        </p:nvSpPr>
        <p:spPr>
          <a:xfrm>
            <a:off x="10832841" y="6494106"/>
            <a:ext cx="1358854" cy="3638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Page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64956"/>
            <a:ext cx="11734506" cy="304800"/>
          </a:xfrm>
          <a:prstGeom prst="rect">
            <a:avLst/>
          </a:prstGeom>
          <a:noFill/>
          <a:ln/>
        </p:spPr>
        <p:txBody>
          <a:bodyPr wrap="none" lIns="0" tIns="0" rIns="0" bIns="0" rtlCol="0" anchor="t"/>
          <a:lstStyle/>
          <a:p>
            <a:pPr marL="0" indent="0" algn="l">
              <a:lnSpc>
                <a:spcPct val="100000"/>
              </a:lnSpc>
              <a:buNone/>
            </a:pPr>
            <a:r>
              <a:rPr lang="en-US" sz="2000" kern="100" spc="20" dirty="0">
                <a:solidFill>
                  <a:srgbClr val="FFE83D"/>
                </a:solidFill>
                <a:latin typeface="Red Hat Mono SemiBold" pitchFamily="34" charset="0"/>
                <a:ea typeface="Red Hat Mono SemiBold" pitchFamily="34" charset="-122"/>
                <a:cs typeface="Red Hat Mono SemiBold" pitchFamily="34" charset="-120"/>
              </a:rPr>
              <a:t>DECISION BRIEF</a:t>
            </a:r>
            <a:endParaRPr lang="en-US" sz="2000" dirty="0"/>
          </a:p>
        </p:txBody>
      </p:sp>
      <p:sp>
        <p:nvSpPr>
          <p:cNvPr id="3" name="Text 1"/>
          <p:cNvSpPr/>
          <p:nvPr/>
        </p:nvSpPr>
        <p:spPr>
          <a:xfrm>
            <a:off x="457189" y="793242"/>
            <a:ext cx="11277318" cy="1351161"/>
          </a:xfrm>
          <a:prstGeom prst="rect">
            <a:avLst/>
          </a:prstGeom>
          <a:noFill/>
          <a:ln/>
        </p:spPr>
        <p:txBody>
          <a:bodyPr wrap="square" lIns="0" tIns="0" rIns="0" bIns="0" rtlCol="0" anchor="t">
            <a:normAutofit lnSpcReduction="10000"/>
          </a:bodyPr>
          <a:lstStyle/>
          <a:p>
            <a:pPr marL="0" indent="0" algn="l">
              <a:lnSpc>
                <a:spcPct val="79000"/>
              </a:lnSpc>
              <a:buNone/>
            </a:pPr>
            <a:r>
              <a:rPr lang="en-US" sz="5600" dirty="0">
                <a:solidFill>
                  <a:srgbClr val="FFFFFF"/>
                </a:solidFill>
                <a:latin typeface="Sofia Sans Extra Condensed Black" pitchFamily="34" charset="0"/>
                <a:ea typeface="Sofia Sans Extra Condensed Black" pitchFamily="34" charset="-122"/>
                <a:cs typeface="Sofia Sans Extra Condensed Black" pitchFamily="34" charset="-120"/>
              </a:rPr>
              <a:t>FINAL RECOMMENDATION: CONTINUE WITH TRUNCATED SVD AS PRIMARY CANDIDATE</a:t>
            </a:r>
            <a:endParaRPr lang="en-US" sz="5600" dirty="0"/>
          </a:p>
        </p:txBody>
      </p:sp>
      <p:sp>
        <p:nvSpPr>
          <p:cNvPr id="4" name="Text 2"/>
          <p:cNvSpPr/>
          <p:nvPr/>
        </p:nvSpPr>
        <p:spPr>
          <a:xfrm>
            <a:off x="466714" y="2073473"/>
            <a:ext cx="3530512" cy="849313"/>
          </a:xfrm>
          <a:prstGeom prst="rect">
            <a:avLst/>
          </a:prstGeom>
          <a:noFill/>
          <a:ln/>
        </p:spPr>
        <p:txBody>
          <a:bodyPr wrap="none" lIns="0" tIns="0" rIns="0" bIns="0" rtlCol="0" anchor="t"/>
          <a:lstStyle/>
          <a:p>
            <a:pPr marL="0" indent="0" algn="l">
              <a:lnSpc>
                <a:spcPct val="73000"/>
              </a:lnSpc>
              <a:buNone/>
            </a:pPr>
            <a:r>
              <a:rPr lang="en-US" sz="7600" kern="100" spc="-38" dirty="0">
                <a:solidFill>
                  <a:srgbClr val="FFE83D"/>
                </a:solidFill>
                <a:latin typeface="Sofia Sans Extra Condensed Black" pitchFamily="34" charset="0"/>
                <a:ea typeface="Sofia Sans Extra Condensed Black" pitchFamily="34" charset="-122"/>
                <a:cs typeface="Sofia Sans Extra Condensed Black" pitchFamily="34" charset="-120"/>
              </a:rPr>
              <a:t>97.95%</a:t>
            </a:r>
            <a:endParaRPr lang="en-US" sz="7600" dirty="0"/>
          </a:p>
        </p:txBody>
      </p:sp>
      <p:sp>
        <p:nvSpPr>
          <p:cNvPr id="5" name="Text 3"/>
          <p:cNvSpPr/>
          <p:nvPr/>
        </p:nvSpPr>
        <p:spPr>
          <a:xfrm>
            <a:off x="466714" y="2892201"/>
            <a:ext cx="3759106" cy="330200"/>
          </a:xfrm>
          <a:prstGeom prst="rect">
            <a:avLst/>
          </a:prstGeom>
          <a:noFill/>
          <a:ln/>
        </p:spPr>
        <p:txBody>
          <a:bodyPr wrap="none" lIns="0" tIns="0" rIns="0" bIns="0" rtlCol="0" anchor="t"/>
          <a:lstStyle/>
          <a:p>
            <a:pPr marL="0" indent="0" algn="l">
              <a:lnSpc>
                <a:spcPct val="108000"/>
              </a:lnSpc>
              <a:buNone/>
            </a:pPr>
            <a:r>
              <a:rPr lang="en-US" sz="2000" dirty="0">
                <a:solidFill>
                  <a:srgbClr val="FFE83D"/>
                </a:solidFill>
                <a:latin typeface="Red Hat Mono" pitchFamily="34" charset="0"/>
                <a:ea typeface="Red Hat Mono" pitchFamily="34" charset="-122"/>
                <a:cs typeface="Red Hat Mono" pitchFamily="34" charset="-120"/>
              </a:rPr>
              <a:t>Matrix Sparsity</a:t>
            </a:r>
            <a:endParaRPr lang="en-US" sz="2000" dirty="0"/>
          </a:p>
        </p:txBody>
      </p:sp>
      <p:sp>
        <p:nvSpPr>
          <p:cNvPr id="6" name="Text 4"/>
          <p:cNvSpPr/>
          <p:nvPr/>
        </p:nvSpPr>
        <p:spPr>
          <a:xfrm>
            <a:off x="457189" y="3466437"/>
            <a:ext cx="3530512" cy="1188641"/>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FFFFFF"/>
                </a:solidFill>
                <a:latin typeface="Host Grotesk" pitchFamily="34" charset="0"/>
                <a:ea typeface="Host Grotesk" pitchFamily="34" charset="-122"/>
                <a:cs typeface="Host Grotesk" pitchFamily="34" charset="-120"/>
              </a:rPr>
              <a:t>SVD natively preserves sparse matrix representations without memory-intensive data centering.</a:t>
            </a:r>
            <a:endParaRPr lang="en-US" sz="1800" dirty="0"/>
          </a:p>
        </p:txBody>
      </p:sp>
      <p:sp>
        <p:nvSpPr>
          <p:cNvPr id="7" name="Text 5"/>
          <p:cNvSpPr/>
          <p:nvPr/>
        </p:nvSpPr>
        <p:spPr>
          <a:xfrm>
            <a:off x="4563949" y="2020673"/>
            <a:ext cx="3301917" cy="849313"/>
          </a:xfrm>
          <a:prstGeom prst="rect">
            <a:avLst/>
          </a:prstGeom>
          <a:noFill/>
          <a:ln/>
        </p:spPr>
        <p:txBody>
          <a:bodyPr wrap="none" lIns="0" tIns="0" rIns="0" bIns="0" rtlCol="0" anchor="t"/>
          <a:lstStyle/>
          <a:p>
            <a:pPr marL="0" indent="0" algn="l">
              <a:lnSpc>
                <a:spcPct val="73000"/>
              </a:lnSpc>
              <a:buNone/>
            </a:pPr>
            <a:r>
              <a:rPr lang="en-US" sz="7600" kern="100" spc="-38" dirty="0">
                <a:solidFill>
                  <a:srgbClr val="FFE83D"/>
                </a:solidFill>
                <a:latin typeface="Sofia Sans Extra Condensed Black" pitchFamily="34" charset="0"/>
                <a:ea typeface="Sofia Sans Extra Condensed Black" pitchFamily="34" charset="-122"/>
                <a:cs typeface="Sofia Sans Extra Condensed Black" pitchFamily="34" charset="-120"/>
              </a:rPr>
              <a:t>20.02%</a:t>
            </a:r>
            <a:endParaRPr lang="en-US" sz="7600" dirty="0"/>
          </a:p>
        </p:txBody>
      </p:sp>
      <p:sp>
        <p:nvSpPr>
          <p:cNvPr id="8" name="Text 6"/>
          <p:cNvSpPr/>
          <p:nvPr/>
        </p:nvSpPr>
        <p:spPr>
          <a:xfrm>
            <a:off x="4424515" y="2896866"/>
            <a:ext cx="3530512" cy="330200"/>
          </a:xfrm>
          <a:prstGeom prst="rect">
            <a:avLst/>
          </a:prstGeom>
          <a:noFill/>
          <a:ln/>
        </p:spPr>
        <p:txBody>
          <a:bodyPr wrap="none" lIns="0" tIns="0" rIns="0" bIns="0" rtlCol="0" anchor="t"/>
          <a:lstStyle/>
          <a:p>
            <a:pPr marL="0" indent="0" algn="l">
              <a:lnSpc>
                <a:spcPct val="108000"/>
              </a:lnSpc>
              <a:buNone/>
            </a:pPr>
            <a:r>
              <a:rPr lang="en-US" sz="2000" dirty="0">
                <a:solidFill>
                  <a:srgbClr val="FFE83D"/>
                </a:solidFill>
                <a:latin typeface="Red Hat Mono" pitchFamily="34" charset="0"/>
                <a:ea typeface="Red Hat Mono" pitchFamily="34" charset="-122"/>
                <a:cs typeface="Red Hat Mono" pitchFamily="34" charset="-120"/>
              </a:rPr>
              <a:t>SVD Hit Rate@10</a:t>
            </a:r>
            <a:endParaRPr lang="en-US" sz="2000" dirty="0"/>
          </a:p>
        </p:txBody>
      </p:sp>
      <p:sp>
        <p:nvSpPr>
          <p:cNvPr id="9" name="Text 7"/>
          <p:cNvSpPr/>
          <p:nvPr/>
        </p:nvSpPr>
        <p:spPr>
          <a:xfrm>
            <a:off x="4444889" y="3448554"/>
            <a:ext cx="3301917" cy="1485801"/>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FFFFFF"/>
                </a:solidFill>
                <a:latin typeface="Host Grotesk" pitchFamily="34" charset="0"/>
                <a:ea typeface="Host Grotesk" pitchFamily="34" charset="-122"/>
                <a:cs typeface="Host Grotesk" pitchFamily="34" charset="-120"/>
              </a:rPr>
              <a:t>Effectively matches PCA (20.13%) and beats the baseline (19.29%) while computing 5.1× faster (0.163 s vs 0.838 s).</a:t>
            </a:r>
            <a:endParaRPr lang="en-US" sz="1800" dirty="0"/>
          </a:p>
        </p:txBody>
      </p:sp>
      <p:sp>
        <p:nvSpPr>
          <p:cNvPr id="10" name="Text 8"/>
          <p:cNvSpPr/>
          <p:nvPr/>
        </p:nvSpPr>
        <p:spPr>
          <a:xfrm>
            <a:off x="8213520" y="2015321"/>
            <a:ext cx="3530512" cy="849313"/>
          </a:xfrm>
          <a:prstGeom prst="rect">
            <a:avLst/>
          </a:prstGeom>
          <a:noFill/>
          <a:ln/>
        </p:spPr>
        <p:txBody>
          <a:bodyPr wrap="none" lIns="0" tIns="0" rIns="0" bIns="0" rtlCol="0" anchor="t"/>
          <a:lstStyle/>
          <a:p>
            <a:pPr marL="0" indent="0" algn="l">
              <a:lnSpc>
                <a:spcPct val="73000"/>
              </a:lnSpc>
              <a:buNone/>
            </a:pPr>
            <a:r>
              <a:rPr lang="en-US" sz="7600" kern="100" spc="-38" dirty="0">
                <a:solidFill>
                  <a:srgbClr val="FFE83D"/>
                </a:solidFill>
                <a:latin typeface="Sofia Sans Extra Condensed Black" pitchFamily="34" charset="0"/>
                <a:ea typeface="Sofia Sans Extra Condensed Black" pitchFamily="34" charset="-122"/>
                <a:cs typeface="Sofia Sans Extra Condensed Black" pitchFamily="34" charset="-120"/>
              </a:rPr>
              <a:t>4</a:t>
            </a:r>
            <a:endParaRPr lang="en-US" sz="7600" dirty="0"/>
          </a:p>
        </p:txBody>
      </p:sp>
      <p:sp>
        <p:nvSpPr>
          <p:cNvPr id="11" name="Text 9"/>
          <p:cNvSpPr/>
          <p:nvPr/>
        </p:nvSpPr>
        <p:spPr>
          <a:xfrm>
            <a:off x="8153722" y="2881397"/>
            <a:ext cx="3530512" cy="330200"/>
          </a:xfrm>
          <a:prstGeom prst="rect">
            <a:avLst/>
          </a:prstGeom>
          <a:noFill/>
          <a:ln/>
        </p:spPr>
        <p:txBody>
          <a:bodyPr wrap="none" lIns="0" tIns="0" rIns="0" bIns="0" rtlCol="0" anchor="t"/>
          <a:lstStyle/>
          <a:p>
            <a:pPr marL="0" indent="0" algn="l">
              <a:lnSpc>
                <a:spcPct val="108000"/>
              </a:lnSpc>
              <a:buNone/>
            </a:pPr>
            <a:r>
              <a:rPr lang="en-US" sz="2000" dirty="0">
                <a:solidFill>
                  <a:srgbClr val="FFE83D"/>
                </a:solidFill>
                <a:latin typeface="Red Hat Mono" pitchFamily="34" charset="0"/>
                <a:ea typeface="Red Hat Mono" pitchFamily="34" charset="-122"/>
                <a:cs typeface="Red Hat Mono" pitchFamily="34" charset="-120"/>
              </a:rPr>
              <a:t>Cohesive Segments</a:t>
            </a:r>
            <a:endParaRPr lang="en-US" sz="2000" dirty="0"/>
          </a:p>
        </p:txBody>
      </p:sp>
      <p:sp>
        <p:nvSpPr>
          <p:cNvPr id="12" name="Text 10"/>
          <p:cNvSpPr/>
          <p:nvPr/>
        </p:nvSpPr>
        <p:spPr>
          <a:xfrm>
            <a:off x="8153722" y="3399619"/>
            <a:ext cx="3530512" cy="1188641"/>
          </a:xfrm>
          <a:prstGeom prst="rect">
            <a:avLst/>
          </a:prstGeom>
          <a:noFill/>
          <a:ln/>
        </p:spPr>
        <p:txBody>
          <a:bodyPr wrap="square" lIns="0" tIns="0" rIns="0" bIns="0" rtlCol="0" anchor="t">
            <a:normAutofit/>
          </a:bodyPr>
          <a:lstStyle/>
          <a:p>
            <a:pPr marL="0" indent="0" algn="l">
              <a:lnSpc>
                <a:spcPct val="108000"/>
              </a:lnSpc>
              <a:buNone/>
            </a:pPr>
            <a:r>
              <a:rPr lang="en-US" sz="1800" dirty="0">
                <a:solidFill>
                  <a:srgbClr val="FFFFFF"/>
                </a:solidFill>
                <a:latin typeface="Host Grotesk" pitchFamily="34" charset="0"/>
                <a:ea typeface="Host Grotesk" pitchFamily="34" charset="-122"/>
                <a:cs typeface="Host Grotesk" pitchFamily="34" charset="-120"/>
              </a:rPr>
              <a:t>Actionable clusters identified for targeted wholesale campaigns, bundles, and personalized catalog views.</a:t>
            </a:r>
            <a:endParaRPr lang="en-US" sz="1800" dirty="0"/>
          </a:p>
        </p:txBody>
      </p:sp>
      <p:sp>
        <p:nvSpPr>
          <p:cNvPr id="13" name="Shape 11"/>
          <p:cNvSpPr/>
          <p:nvPr/>
        </p:nvSpPr>
        <p:spPr>
          <a:xfrm>
            <a:off x="111967" y="5002914"/>
            <a:ext cx="12010806" cy="1769859"/>
          </a:xfrm>
          <a:prstGeom prst="rect">
            <a:avLst/>
          </a:prstGeom>
          <a:solidFill>
            <a:srgbClr val="0A1540"/>
          </a:solidFill>
          <a:ln/>
        </p:spPr>
      </p:sp>
      <p:sp>
        <p:nvSpPr>
          <p:cNvPr id="14" name="Text 12"/>
          <p:cNvSpPr/>
          <p:nvPr/>
        </p:nvSpPr>
        <p:spPr>
          <a:xfrm>
            <a:off x="660909" y="5364909"/>
            <a:ext cx="10769331" cy="891480"/>
          </a:xfrm>
          <a:prstGeom prst="rect">
            <a:avLst/>
          </a:prstGeom>
          <a:noFill/>
          <a:ln/>
        </p:spPr>
        <p:txBody>
          <a:bodyPr wrap="square" lIns="0" tIns="0" rIns="0" bIns="0" rtlCol="0" anchor="t">
            <a:normAutofit/>
          </a:bodyPr>
          <a:lstStyle/>
          <a:p>
            <a:pPr marL="0" indent="0" algn="l">
              <a:lnSpc>
                <a:spcPct val="108000"/>
              </a:lnSpc>
              <a:buNone/>
            </a:pPr>
            <a:r>
              <a:rPr lang="en-US" sz="1800" b="1" dirty="0">
                <a:solidFill>
                  <a:srgbClr val="FFFFFF"/>
                </a:solidFill>
                <a:latin typeface="Host Grotesk Bold" pitchFamily="34" charset="0"/>
                <a:ea typeface="Host Grotesk Bold" pitchFamily="34" charset="-122"/>
                <a:cs typeface="Host Grotesk Bold" pitchFamily="34" charset="-120"/>
              </a:rPr>
              <a:t>Executive Summary:</a:t>
            </a:r>
            <a:r>
              <a:rPr lang="en-US" sz="1800" dirty="0">
                <a:solidFill>
                  <a:srgbClr val="FFFFFF"/>
                </a:solidFill>
                <a:latin typeface="Host Grotesk" pitchFamily="34" charset="0"/>
                <a:ea typeface="Host Grotesk" pitchFamily="34" charset="-122"/>
                <a:cs typeface="Host Grotesk" pitchFamily="34" charset="-120"/>
              </a:rPr>
              <a:t> Sparse retail purchase data can be successfully compressed into latent dimensions for recommendation and clustering. The measured gains support advancing Truncated SVD into validation testing rather than immediate deployment.</a:t>
            </a:r>
            <a:endParaRPr lang="en-US" sz="1800" dirty="0"/>
          </a:p>
        </p:txBody>
      </p:sp>
      <p:sp>
        <p:nvSpPr>
          <p:cNvPr id="15" name="Shape 13"/>
          <p:cNvSpPr/>
          <p:nvPr/>
        </p:nvSpPr>
        <p:spPr>
          <a:xfrm>
            <a:off x="4206769" y="2367161"/>
            <a:ext cx="45719" cy="2567194"/>
          </a:xfrm>
          <a:prstGeom prst="rect">
            <a:avLst/>
          </a:prstGeom>
          <a:solidFill>
            <a:srgbClr val="0A1540"/>
          </a:solidFill>
          <a:ln/>
        </p:spPr>
      </p:sp>
      <p:sp>
        <p:nvSpPr>
          <p:cNvPr id="16" name="Shape 14"/>
          <p:cNvSpPr/>
          <p:nvPr/>
        </p:nvSpPr>
        <p:spPr>
          <a:xfrm>
            <a:off x="7965875" y="2367161"/>
            <a:ext cx="45719" cy="2567194"/>
          </a:xfrm>
          <a:prstGeom prst="rect">
            <a:avLst/>
          </a:prstGeom>
          <a:solidFill>
            <a:srgbClr val="0A154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1489</Words>
  <Application>Microsoft Office PowerPoint</Application>
  <PresentationFormat>Widescreen</PresentationFormat>
  <Paragraphs>128</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Red Hat Mono SemiBold</vt:lpstr>
      <vt:lpstr>Consolas</vt:lpstr>
      <vt:lpstr>Red Hat Mono</vt:lpstr>
      <vt:lpstr>Sofia Sans Extra Condensed Black</vt:lpstr>
      <vt:lpstr>Arial</vt:lpstr>
      <vt:lpstr>Red Hat Mono Bold</vt:lpstr>
      <vt:lpstr>Host Grotesk Bold</vt:lpstr>
      <vt:lpstr>Host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lastModifiedBy>kamya kanara</cp:lastModifiedBy>
  <cp:revision>3</cp:revision>
  <dcterms:created xsi:type="dcterms:W3CDTF">2026-10-13T23:02:13Z</dcterms:created>
  <dcterms:modified xsi:type="dcterms:W3CDTF">2026-10-13T23:54:40Z</dcterms:modified>
</cp:coreProperties>
</file>